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Quattrocento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QuattrocentoSans-regular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Quattrocento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QuattrocentoSans-boldItalic.fntdata"/><Relationship Id="rId30" Type="http://schemas.openxmlformats.org/officeDocument/2006/relationships/font" Target="fonts/Quattrocento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f1b993cef_0_1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f1b993cef_0_1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f1b993cef_0_19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df1b993cef_0_191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df1b993cef_0_191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f1b993cef_4_3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df1b993cef_4_3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df1b993cef_4_3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f1b993cef_4_9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df1b993cef_4_9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df1b993cef_4_9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f1b993cef_4_15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df1b993cef_4_15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df1b993cef_4_15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f1b993cef_4_2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df1b993cef_4_2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df1b993cef_4_2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f1b993cef_0_198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g3df1b993cef_0_198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df1b993cef_0_198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df1b993cef_0_206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df1b993cef_0_206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df1b993cef_0_206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df1b993cef_0_196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g3df1b993cef_0_196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df1b993cef_0_196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f1b993cef_4_41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3df1b993cef_4_41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df1b993cef_4_41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df1b993cef_0_195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df1b993cef_0_195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df1b993cef_0_195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df1b993cef_4_4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g3df1b993cef_4_4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df1b993cef_4_4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df1b993cef_4_33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df1b993cef_4_33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df1b993cef_4_33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df1b993cef_4_37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g3df1b993cef_4_37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df1b993cef_4_37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1842250" y="1322450"/>
            <a:ext cx="54624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Pixelado de Rostros de Menores</a:t>
            </a:r>
            <a:endParaRPr/>
          </a:p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319400" y="3059200"/>
            <a:ext cx="8508600" cy="18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Sistema Distribuido Event-Driven · Apache Kafka · YOLOv8 · MobileNetV2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Curso IABD - Sergi &amp; Gerard</a:t>
            </a:r>
            <a:endParaRPr sz="1400"/>
          </a:p>
        </p:txBody>
      </p:sp>
      <p:sp>
        <p:nvSpPr>
          <p:cNvPr id="89" name="Google Shape;89;p14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0" y="0"/>
            <a:ext cx="9144000" cy="5943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0" y="594360"/>
            <a:ext cx="9144000" cy="11100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411480" y="73152"/>
            <a:ext cx="8321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2600"/>
              <a:buFont typeface="Quattrocento Sans"/>
              <a:buNone/>
            </a:pPr>
            <a:r>
              <a:rPr b="1" lang="en" sz="3000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Problema y Objetivo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365760" y="749808"/>
            <a:ext cx="8412600" cy="1234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365760" y="749808"/>
            <a:ext cx="50400" cy="123450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475488" y="804672"/>
            <a:ext cx="54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2400"/>
              <a:buFont typeface="Consolas"/>
              <a:buNone/>
            </a:pPr>
            <a:r>
              <a:rPr b="1" i="0" lang="en" sz="2400" u="none" cap="none" strike="noStrike">
                <a:solidFill>
                  <a:srgbClr val="00786E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1115568" y="822960"/>
            <a:ext cx="713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800"/>
              <a:buFont typeface="Quattrocento Sans"/>
              <a:buNone/>
            </a:pPr>
            <a:r>
              <a:rPr b="1" lang="en" sz="2000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Problema real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1115568" y="1188720"/>
            <a:ext cx="7132200" cy="11100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847168" y="1243575"/>
            <a:ext cx="7804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400"/>
              <a:buFont typeface="Quattrocento Sans"/>
              <a:buNone/>
            </a:pPr>
            <a:r>
              <a:rPr lang="en" sz="1800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Proteger la identidad de menores en imágenes digitales de forma automática, escalable y sin intervención humana.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365760" y="2084832"/>
            <a:ext cx="8412600" cy="1234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365760" y="2084832"/>
            <a:ext cx="50400" cy="1234500"/>
          </a:xfrm>
          <a:prstGeom prst="rect">
            <a:avLst/>
          </a:prstGeom>
          <a:solidFill>
            <a:srgbClr val="296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475488" y="2139696"/>
            <a:ext cx="54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65CC"/>
              </a:buClr>
              <a:buSzPts val="2400"/>
              <a:buFont typeface="Consolas"/>
              <a:buNone/>
            </a:pPr>
            <a:r>
              <a:rPr b="1" i="0" lang="en" sz="2400" u="none" cap="none" strike="noStrike">
                <a:solidFill>
                  <a:srgbClr val="2965CC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1115568" y="2157984"/>
            <a:ext cx="713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n" sz="2000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Solución propuesta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1115568" y="2523744"/>
            <a:ext cx="7132200" cy="11100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847168" y="2578612"/>
            <a:ext cx="7804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400"/>
              <a:buFont typeface="Quattrocento Sans"/>
              <a:buNone/>
            </a:pPr>
            <a:r>
              <a:rPr lang="en" sz="1800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Pipeline event-driven con Kafka: detecta caras con YOLOv8, estima la edad con MobileNetV2 y pixela automáticamente si es menor.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365760" y="3419856"/>
            <a:ext cx="8412600" cy="1234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365760" y="3419856"/>
            <a:ext cx="50400" cy="1234500"/>
          </a:xfrm>
          <a:prstGeom prst="rect">
            <a:avLst/>
          </a:prstGeom>
          <a:solidFill>
            <a:srgbClr val="7745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475488" y="3474720"/>
            <a:ext cx="54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450D"/>
              </a:buClr>
              <a:buSzPts val="2400"/>
              <a:buFont typeface="Consolas"/>
              <a:buNone/>
            </a:pPr>
            <a:r>
              <a:rPr b="1" i="0" lang="en" sz="2400" u="none" cap="none" strike="noStrike">
                <a:solidFill>
                  <a:srgbClr val="77450D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1115568" y="3493008"/>
            <a:ext cx="713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n" sz="2000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Doble modalidad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1115568" y="3858768"/>
            <a:ext cx="7132200" cy="11100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847168" y="3913650"/>
            <a:ext cx="7804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400"/>
              <a:buFont typeface="Quattrocento Sans"/>
              <a:buNone/>
            </a:pPr>
            <a:r>
              <a:rPr lang="en" sz="1800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Procesamiento de fotos estáticas y detección en tiempo real a 60fps con webcam, sin almacenamiento de sesión.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0" y="4800600"/>
            <a:ext cx="9144000" cy="292500"/>
          </a:xfrm>
          <a:prstGeom prst="rect">
            <a:avLst/>
          </a:prstGeom>
          <a:solidFill>
            <a:srgbClr val="D2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/>
          <p:nvPr/>
        </p:nvSpPr>
        <p:spPr>
          <a:xfrm>
            <a:off x="0" y="0"/>
            <a:ext cx="9144000" cy="5943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0" y="594360"/>
            <a:ext cx="9144000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411480" y="73152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2600"/>
              <a:buFont typeface="Quattrocento Sans"/>
              <a:buNone/>
            </a:pPr>
            <a:r>
              <a:rPr b="1" i="0" lang="en" sz="30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¿Qué hace el sistema?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365760" y="749808"/>
            <a:ext cx="841248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365760" y="749808"/>
            <a:ext cx="50292" cy="123444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475488" y="804672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2400"/>
              <a:buFont typeface="Consolas"/>
              <a:buNone/>
            </a:pPr>
            <a:r>
              <a:rPr b="1" i="0" lang="en" sz="2400" u="none" cap="none" strike="noStrike">
                <a:solidFill>
                  <a:srgbClr val="00786E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1115568" y="822960"/>
            <a:ext cx="7132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800"/>
              <a:buFont typeface="Quattrocento Sans"/>
              <a:buNone/>
            </a:pPr>
            <a:r>
              <a:rPr b="1" i="0" lang="en" sz="20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Detecta rostros automáticamente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1115568" y="1188720"/>
            <a:ext cx="7132320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847168" y="1243575"/>
            <a:ext cx="7804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400"/>
              <a:buFont typeface="Quattrocento Sans"/>
              <a:buNone/>
            </a:pPr>
            <a:r>
              <a:rPr b="0" i="0" lang="en" sz="180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 servicio de </a:t>
            </a:r>
            <a:r>
              <a:rPr b="1" i="0" lang="en" sz="180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 Detection</a:t>
            </a:r>
            <a:r>
              <a:rPr b="0" i="0" lang="en" sz="180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analiza cada imagen recibida, localiza todos los rostros presentes y genera bounding boxes precisos usando OpenCV o YOLO.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365760" y="2084832"/>
            <a:ext cx="841248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365760" y="2084832"/>
            <a:ext cx="50292" cy="1234440"/>
          </a:xfrm>
          <a:prstGeom prst="rect">
            <a:avLst/>
          </a:prstGeom>
          <a:solidFill>
            <a:srgbClr val="296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475488" y="2139696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65CC"/>
              </a:buClr>
              <a:buSzPts val="2400"/>
              <a:buFont typeface="Consolas"/>
              <a:buNone/>
            </a:pPr>
            <a:r>
              <a:rPr b="1" i="0" lang="en" sz="2400" u="none" cap="none" strike="noStrike">
                <a:solidFill>
                  <a:srgbClr val="2965CC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1115568" y="2157984"/>
            <a:ext cx="7132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800"/>
              <a:buFont typeface="Quattrocento Sans"/>
              <a:buNone/>
            </a:pPr>
            <a:r>
              <a:rPr b="1" i="0" lang="en" sz="20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Estima la edad de cada rostro detectado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1115568" y="2523744"/>
            <a:ext cx="7132320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847168" y="2578612"/>
            <a:ext cx="7804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400"/>
              <a:buFont typeface="Quattrocento Sans"/>
              <a:buNone/>
            </a:pPr>
            <a:r>
              <a:rPr b="0" i="0" lang="en" sz="180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El servicio de </a:t>
            </a:r>
            <a:r>
              <a:rPr b="1" i="0" lang="en" sz="180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 Detection</a:t>
            </a:r>
            <a:r>
              <a:rPr b="0" i="0" lang="en" sz="180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aplica una red neuronal (TensorFlow / PyTorch) a cada recorte de rostro para obtener una estimación de edad en años.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365760" y="3419856"/>
            <a:ext cx="841248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365760" y="3419856"/>
            <a:ext cx="50292" cy="1234440"/>
          </a:xfrm>
          <a:prstGeom prst="rect">
            <a:avLst/>
          </a:prstGeom>
          <a:solidFill>
            <a:srgbClr val="7745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475488" y="347472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450D"/>
              </a:buClr>
              <a:buSzPts val="2400"/>
              <a:buFont typeface="Consolas"/>
              <a:buNone/>
            </a:pPr>
            <a:r>
              <a:rPr b="1" i="0" lang="en" sz="2400" u="none" cap="none" strike="noStrike">
                <a:solidFill>
                  <a:srgbClr val="77450D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1115568" y="3493008"/>
            <a:ext cx="7132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800"/>
              <a:buFont typeface="Quattrocento Sans"/>
              <a:buNone/>
            </a:pPr>
            <a:r>
              <a:rPr b="1" i="0" lang="en" sz="20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Pixela automáticamente los rostros de menores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1115568" y="3858768"/>
            <a:ext cx="7132320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847168" y="3913650"/>
            <a:ext cx="7804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400"/>
              <a:buFont typeface="Quattrocento Sans"/>
              <a:buNone/>
            </a:pPr>
            <a:r>
              <a:rPr b="0" i="0" lang="en" sz="180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Cuando la edad estimada es &lt; 18*, el Pixelation Service aplica un efecto de pixelado antes de almacenar la imagen final en MinIO (S3).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D2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0" y="594360"/>
            <a:ext cx="9144000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411480" y="73152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2600"/>
              <a:buFont typeface="Quattrocento Sans"/>
              <a:buNone/>
            </a:pPr>
            <a:r>
              <a:rPr b="1" i="0" lang="en" sz="30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Microservicios del Sistema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365760" y="749808"/>
            <a:ext cx="4023360" cy="1335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365760" y="749808"/>
            <a:ext cx="50292" cy="1335024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457200" y="804672"/>
            <a:ext cx="530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2000"/>
              <a:buFont typeface="Consolas"/>
              <a:buNone/>
            </a:pPr>
            <a:r>
              <a:rPr b="1" i="0" lang="en" sz="2000" u="none" cap="none" strike="noStrike">
                <a:solidFill>
                  <a:srgbClr val="00786E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1060704" y="841248"/>
            <a:ext cx="960120" cy="201168"/>
          </a:xfrm>
          <a:prstGeom prst="rect">
            <a:avLst/>
          </a:prstGeom>
          <a:solidFill>
            <a:srgbClr val="D2ECE9"/>
          </a:solidFill>
          <a:ln cap="flat" cmpd="sng" w="9525">
            <a:solidFill>
              <a:srgbClr val="007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1060704" y="841248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900"/>
              <a:buFont typeface="Consolas"/>
              <a:buNone/>
            </a:pPr>
            <a:r>
              <a:rPr b="1" i="0" lang="en" sz="900" u="none" cap="none" strike="noStrike">
                <a:solidFill>
                  <a:srgbClr val="00786E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2075688" y="841248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5F6B7C"/>
                </a:solidFill>
                <a:latin typeface="Consolas"/>
                <a:ea typeface="Consolas"/>
                <a:cs typeface="Consolas"/>
                <a:sym typeface="Consolas"/>
              </a:rPr>
              <a:t>FastAPI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1060704" y="1088136"/>
            <a:ext cx="3236976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1060704" y="1133856"/>
            <a:ext cx="32369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600"/>
              <a:buFont typeface="Quattrocento Sans"/>
              <a:buNone/>
            </a:pPr>
            <a:r>
              <a:rPr b="1" i="0" lang="en" sz="18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API Gateway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1060704" y="1463040"/>
            <a:ext cx="32369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250"/>
              <a:buFont typeface="Quattrocento Sans"/>
              <a:buNone/>
            </a:pPr>
            <a:r>
              <a:rPr b="0" i="0" lang="en" sz="135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Recibe imágenes vía HTTP/REST y publica el evento inicial en el topic images.raw.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4663440" y="749808"/>
            <a:ext cx="4023360" cy="1335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4663440" y="749808"/>
            <a:ext cx="50292" cy="1335024"/>
          </a:xfrm>
          <a:prstGeom prst="rect">
            <a:avLst/>
          </a:prstGeom>
          <a:solidFill>
            <a:srgbClr val="296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4754880" y="804672"/>
            <a:ext cx="530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65CC"/>
              </a:buClr>
              <a:buSzPts val="2000"/>
              <a:buFont typeface="Consolas"/>
              <a:buNone/>
            </a:pPr>
            <a:r>
              <a:rPr b="1" i="0" lang="en" sz="2000" u="none" cap="none" strike="noStrike">
                <a:solidFill>
                  <a:srgbClr val="2965CC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5358384" y="841248"/>
            <a:ext cx="960120" cy="201168"/>
          </a:xfrm>
          <a:prstGeom prst="rect">
            <a:avLst/>
          </a:prstGeom>
          <a:solidFill>
            <a:srgbClr val="D2ECE9"/>
          </a:solidFill>
          <a:ln cap="flat" cmpd="sng" w="9525">
            <a:solidFill>
              <a:srgbClr val="007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5358384" y="841248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900"/>
              <a:buFont typeface="Consolas"/>
              <a:buNone/>
            </a:pPr>
            <a:r>
              <a:rPr b="1" i="0" lang="en" sz="900" u="none" cap="none" strike="noStrike">
                <a:solidFill>
                  <a:srgbClr val="00786E"/>
                </a:solidFill>
                <a:latin typeface="Consolas"/>
                <a:ea typeface="Consolas"/>
                <a:cs typeface="Consolas"/>
                <a:sym typeface="Consolas"/>
              </a:rPr>
              <a:t>CTRL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6373368" y="841248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5F6B7C"/>
                </a:solidFill>
                <a:latin typeface="Consolas"/>
                <a:ea typeface="Consolas"/>
                <a:cs typeface="Consolas"/>
                <a:sym typeface="Consolas"/>
              </a:rPr>
              <a:t>Python · Kafka Consumer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5358384" y="1088136"/>
            <a:ext cx="3236976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5358384" y="1133856"/>
            <a:ext cx="32369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600"/>
              <a:buFont typeface="Quattrocento Sans"/>
              <a:buNone/>
            </a:pPr>
            <a:r>
              <a:rPr b="1" i="0" lang="en" sz="18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Orquestador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5358384" y="1463040"/>
            <a:ext cx="32369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250"/>
              <a:buFont typeface="Quattrocento Sans"/>
              <a:buNone/>
            </a:pPr>
            <a:r>
              <a:rPr b="0" i="0" lang="en" sz="135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Coordina el flujo completo, supervisa estados y gestiona errores del pipeline.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365760" y="2212848"/>
            <a:ext cx="4023360" cy="1335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365760" y="2212848"/>
            <a:ext cx="50292" cy="1335024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457200" y="2267712"/>
            <a:ext cx="530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2000"/>
              <a:buFont typeface="Consolas"/>
              <a:buNone/>
            </a:pPr>
            <a:r>
              <a:rPr b="1" i="0" lang="en" sz="2000" u="none" cap="none" strike="noStrike">
                <a:solidFill>
                  <a:srgbClr val="00786E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1060704" y="2304288"/>
            <a:ext cx="960120" cy="201168"/>
          </a:xfrm>
          <a:prstGeom prst="rect">
            <a:avLst/>
          </a:prstGeom>
          <a:solidFill>
            <a:srgbClr val="D2ECE9"/>
          </a:solidFill>
          <a:ln cap="flat" cmpd="sng" w="9525">
            <a:solidFill>
              <a:srgbClr val="007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1060704" y="2304288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900"/>
              <a:buFont typeface="Consolas"/>
              <a:buNone/>
            </a:pPr>
            <a:r>
              <a:rPr b="1" i="0" lang="en" sz="900" u="none" cap="none" strike="noStrike">
                <a:solidFill>
                  <a:srgbClr val="00786E"/>
                </a:solidFill>
                <a:latin typeface="Consolas"/>
                <a:ea typeface="Consolas"/>
                <a:cs typeface="Consolas"/>
                <a:sym typeface="Consolas"/>
              </a:rPr>
              <a:t>DETECT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075688" y="2304288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5F6B7C"/>
                </a:solidFill>
                <a:latin typeface="Consolas"/>
                <a:ea typeface="Consolas"/>
                <a:cs typeface="Consolas"/>
                <a:sym typeface="Consolas"/>
              </a:rPr>
              <a:t>OpenCV / YOLO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60704" y="2551176"/>
            <a:ext cx="3236976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1060704" y="2596896"/>
            <a:ext cx="32369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600"/>
              <a:buFont typeface="Quattrocento Sans"/>
              <a:buNone/>
            </a:pPr>
            <a:r>
              <a:rPr b="1" i="0" lang="en" sz="18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 Detection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1060704" y="2926080"/>
            <a:ext cx="32369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250"/>
              <a:buFont typeface="Quattrocento Sans"/>
              <a:buNone/>
            </a:pPr>
            <a:r>
              <a:rPr b="0" i="0" lang="en" sz="135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Detecta todos los rostros en la imagen y genera bounding boxes precisos.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4663440" y="2212848"/>
            <a:ext cx="4023360" cy="1335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4663440" y="2212848"/>
            <a:ext cx="50292" cy="1335024"/>
          </a:xfrm>
          <a:prstGeom prst="rect">
            <a:avLst/>
          </a:prstGeom>
          <a:solidFill>
            <a:srgbClr val="7745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4754880" y="2267712"/>
            <a:ext cx="530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450D"/>
              </a:buClr>
              <a:buSzPts val="2000"/>
              <a:buFont typeface="Consolas"/>
              <a:buNone/>
            </a:pPr>
            <a:r>
              <a:rPr b="1" i="0" lang="en" sz="2000" u="none" cap="none" strike="noStrike">
                <a:solidFill>
                  <a:srgbClr val="77450D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5358384" y="2304288"/>
            <a:ext cx="960120" cy="201168"/>
          </a:xfrm>
          <a:prstGeom prst="rect">
            <a:avLst/>
          </a:prstGeom>
          <a:solidFill>
            <a:srgbClr val="D2ECE9"/>
          </a:solidFill>
          <a:ln cap="flat" cmpd="sng" w="9525">
            <a:solidFill>
              <a:srgbClr val="007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7"/>
          <p:cNvSpPr/>
          <p:nvPr/>
        </p:nvSpPr>
        <p:spPr>
          <a:xfrm>
            <a:off x="5358384" y="2304288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900"/>
              <a:buFont typeface="Consolas"/>
              <a:buNone/>
            </a:pPr>
            <a:r>
              <a:rPr b="1" i="0" lang="en" sz="900" u="none" cap="none" strike="noStrike">
                <a:solidFill>
                  <a:srgbClr val="00786E"/>
                </a:solidFill>
                <a:latin typeface="Consolas"/>
                <a:ea typeface="Consolas"/>
                <a:cs typeface="Consolas"/>
                <a:sym typeface="Consolas"/>
              </a:rPr>
              <a:t>INFER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6373368" y="2304288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5F6B7C"/>
                </a:solidFill>
                <a:latin typeface="Consolas"/>
                <a:ea typeface="Consolas"/>
                <a:cs typeface="Consolas"/>
                <a:sym typeface="Consolas"/>
              </a:rPr>
              <a:t>TensorFlow / PyTorch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5358384" y="2551176"/>
            <a:ext cx="3236976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5358384" y="2596896"/>
            <a:ext cx="32369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600"/>
              <a:buFont typeface="Quattrocento Sans"/>
              <a:buNone/>
            </a:pPr>
            <a:r>
              <a:rPr b="1" i="0" lang="en" sz="18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 Detection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5358384" y="2926080"/>
            <a:ext cx="32369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250"/>
              <a:buFont typeface="Quattrocento Sans"/>
              <a:buNone/>
            </a:pPr>
            <a:r>
              <a:rPr b="0" i="0" lang="en" sz="135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Aplica una red neuronal a cada recorte de rostro y clasifica </a:t>
            </a:r>
            <a:r>
              <a:rPr lang="en" sz="1350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menores de edad.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365760" y="3675888"/>
            <a:ext cx="4023360" cy="1335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365760" y="3675888"/>
            <a:ext cx="50292" cy="1335024"/>
          </a:xfrm>
          <a:prstGeom prst="rect">
            <a:avLst/>
          </a:prstGeom>
          <a:solidFill>
            <a:srgbClr val="1D73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457200" y="3730752"/>
            <a:ext cx="530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7324"/>
              </a:buClr>
              <a:buSzPts val="2000"/>
              <a:buFont typeface="Consolas"/>
              <a:buNone/>
            </a:pPr>
            <a:r>
              <a:rPr b="1" i="0" lang="en" sz="2000" u="none" cap="none" strike="noStrike">
                <a:solidFill>
                  <a:srgbClr val="1D7324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1060704" y="3767328"/>
            <a:ext cx="960120" cy="201168"/>
          </a:xfrm>
          <a:prstGeom prst="rect">
            <a:avLst/>
          </a:prstGeom>
          <a:solidFill>
            <a:srgbClr val="D2ECE9"/>
          </a:solidFill>
          <a:ln cap="flat" cmpd="sng" w="9525">
            <a:solidFill>
              <a:srgbClr val="007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7"/>
          <p:cNvSpPr/>
          <p:nvPr/>
        </p:nvSpPr>
        <p:spPr>
          <a:xfrm>
            <a:off x="1060704" y="3767328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900"/>
              <a:buFont typeface="Consolas"/>
              <a:buNone/>
            </a:pPr>
            <a:r>
              <a:rPr b="1" i="0" lang="en" sz="900" u="none" cap="none" strike="noStrike">
                <a:solidFill>
                  <a:srgbClr val="00786E"/>
                </a:solidFill>
                <a:latin typeface="Consolas"/>
                <a:ea typeface="Consolas"/>
                <a:cs typeface="Consolas"/>
                <a:sym typeface="Consolas"/>
              </a:rPr>
              <a:t>PROCESS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2075688" y="3767328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5F6B7C"/>
                </a:solidFill>
                <a:latin typeface="Consolas"/>
                <a:ea typeface="Consolas"/>
                <a:cs typeface="Consolas"/>
                <a:sym typeface="Consolas"/>
              </a:rPr>
              <a:t>OpenCV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1060704" y="4014216"/>
            <a:ext cx="3236976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7"/>
          <p:cNvSpPr/>
          <p:nvPr/>
        </p:nvSpPr>
        <p:spPr>
          <a:xfrm>
            <a:off x="1060704" y="4059936"/>
            <a:ext cx="32369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600"/>
              <a:buFont typeface="Quattrocento Sans"/>
              <a:buNone/>
            </a:pPr>
            <a:r>
              <a:rPr b="1" i="0" lang="en" sz="18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Pixelation Service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1060704" y="4389120"/>
            <a:ext cx="32369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250"/>
              <a:buFont typeface="Quattrocento Sans"/>
              <a:buNone/>
            </a:pPr>
            <a:r>
              <a:rPr b="0" i="0" lang="en" sz="135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Pixela los rostros de los menores identificados</a:t>
            </a:r>
            <a:r>
              <a:rPr lang="en" sz="1350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4663440" y="3675888"/>
            <a:ext cx="4023360" cy="1335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7"/>
          <p:cNvSpPr/>
          <p:nvPr/>
        </p:nvSpPr>
        <p:spPr>
          <a:xfrm>
            <a:off x="4663440" y="3675888"/>
            <a:ext cx="50292" cy="1335024"/>
          </a:xfrm>
          <a:prstGeom prst="rect">
            <a:avLst/>
          </a:prstGeom>
          <a:solidFill>
            <a:srgbClr val="296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4754880" y="3730752"/>
            <a:ext cx="530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65CC"/>
              </a:buClr>
              <a:buSzPts val="2000"/>
              <a:buFont typeface="Consolas"/>
              <a:buNone/>
            </a:pPr>
            <a:r>
              <a:rPr b="1" i="0" lang="en" sz="2000" u="none" cap="none" strike="noStrike">
                <a:solidFill>
                  <a:srgbClr val="2965CC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5358384" y="3767328"/>
            <a:ext cx="960120" cy="201168"/>
          </a:xfrm>
          <a:prstGeom prst="rect">
            <a:avLst/>
          </a:prstGeom>
          <a:solidFill>
            <a:srgbClr val="D2ECE9"/>
          </a:solidFill>
          <a:ln cap="flat" cmpd="sng" w="9525">
            <a:solidFill>
              <a:srgbClr val="007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7"/>
          <p:cNvSpPr/>
          <p:nvPr/>
        </p:nvSpPr>
        <p:spPr>
          <a:xfrm>
            <a:off x="5358384" y="3767328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900"/>
              <a:buFont typeface="Consolas"/>
              <a:buNone/>
            </a:pPr>
            <a:r>
              <a:rPr b="1" i="0" lang="en" sz="900" u="none" cap="none" strike="noStrike">
                <a:solidFill>
                  <a:srgbClr val="00786E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6373368" y="3767328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5F6B7C"/>
                </a:solidFill>
                <a:latin typeface="Consolas"/>
                <a:ea typeface="Consolas"/>
                <a:cs typeface="Consolas"/>
                <a:sym typeface="Consolas"/>
              </a:rPr>
              <a:t>MinIO + PostgreSQL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5358384" y="4014216"/>
            <a:ext cx="3236976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5358384" y="4059936"/>
            <a:ext cx="3236976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600"/>
              <a:buFont typeface="Quattrocento Sans"/>
              <a:buNone/>
            </a:pPr>
            <a:r>
              <a:rPr b="1" i="0" lang="en" sz="18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Storage Service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5358384" y="4389120"/>
            <a:ext cx="323697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250"/>
              <a:buFont typeface="Quattrocento Sans"/>
              <a:buNone/>
            </a:pPr>
            <a:r>
              <a:rPr b="0" i="0" lang="en" sz="135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Persiste imágenes en MinIO (S3) y guarda metadata en PostgreSQL.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0" y="594360"/>
            <a:ext cx="9144000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411480" y="73152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2600"/>
              <a:buFont typeface="Quattrocento Sans"/>
              <a:buNone/>
            </a:pPr>
            <a:r>
              <a:rPr b="1" i="0" lang="en" sz="30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Flujo del Pipelin</a:t>
            </a:r>
            <a:r>
              <a:rPr b="1" lang="en" sz="3000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</a:t>
            </a:r>
            <a:endParaRPr b="1" sz="3000">
              <a:solidFill>
                <a:srgbClr val="1C212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365760" y="749808"/>
            <a:ext cx="8412480" cy="539496"/>
          </a:xfrm>
          <a:prstGeom prst="rect">
            <a:avLst/>
          </a:prstGeom>
          <a:solidFill>
            <a:srgbClr val="F6F7F9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365750" y="749800"/>
            <a:ext cx="80700" cy="53940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8"/>
          <p:cNvSpPr/>
          <p:nvPr/>
        </p:nvSpPr>
        <p:spPr>
          <a:xfrm>
            <a:off x="2804474" y="749800"/>
            <a:ext cx="59280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Cliente sube imagen</a:t>
            </a:r>
            <a:endParaRPr sz="155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365760" y="1316736"/>
            <a:ext cx="8412480" cy="5394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365750" y="1316729"/>
            <a:ext cx="80700" cy="539400"/>
          </a:xfrm>
          <a:prstGeom prst="rect">
            <a:avLst/>
          </a:prstGeom>
          <a:solidFill>
            <a:srgbClr val="296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8"/>
          <p:cNvSpPr/>
          <p:nvPr/>
        </p:nvSpPr>
        <p:spPr>
          <a:xfrm>
            <a:off x="365760" y="1883664"/>
            <a:ext cx="8412600" cy="539400"/>
          </a:xfrm>
          <a:prstGeom prst="rect">
            <a:avLst/>
          </a:prstGeom>
          <a:solidFill>
            <a:srgbClr val="F6F7F9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8"/>
          <p:cNvSpPr/>
          <p:nvPr/>
        </p:nvSpPr>
        <p:spPr>
          <a:xfrm>
            <a:off x="365750" y="1883658"/>
            <a:ext cx="80700" cy="53940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365760" y="2450592"/>
            <a:ext cx="8412600" cy="53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8"/>
          <p:cNvSpPr/>
          <p:nvPr/>
        </p:nvSpPr>
        <p:spPr>
          <a:xfrm>
            <a:off x="365750" y="2450588"/>
            <a:ext cx="80700" cy="539400"/>
          </a:xfrm>
          <a:prstGeom prst="rect">
            <a:avLst/>
          </a:prstGeom>
          <a:solidFill>
            <a:srgbClr val="296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365760" y="3017520"/>
            <a:ext cx="8412480" cy="539496"/>
          </a:xfrm>
          <a:prstGeom prst="rect">
            <a:avLst/>
          </a:prstGeom>
          <a:solidFill>
            <a:srgbClr val="F6F7F9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365750" y="3017517"/>
            <a:ext cx="80700" cy="539400"/>
          </a:xfrm>
          <a:prstGeom prst="rect">
            <a:avLst/>
          </a:prstGeom>
          <a:solidFill>
            <a:srgbClr val="7745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8"/>
          <p:cNvSpPr/>
          <p:nvPr/>
        </p:nvSpPr>
        <p:spPr>
          <a:xfrm>
            <a:off x="365760" y="3584448"/>
            <a:ext cx="8412480" cy="5394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8"/>
          <p:cNvSpPr/>
          <p:nvPr/>
        </p:nvSpPr>
        <p:spPr>
          <a:xfrm>
            <a:off x="365750" y="3584446"/>
            <a:ext cx="80700" cy="539400"/>
          </a:xfrm>
          <a:prstGeom prst="rect">
            <a:avLst/>
          </a:prstGeom>
          <a:solidFill>
            <a:srgbClr val="296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"/>
          <p:cNvSpPr/>
          <p:nvPr/>
        </p:nvSpPr>
        <p:spPr>
          <a:xfrm>
            <a:off x="365760" y="4151376"/>
            <a:ext cx="8412480" cy="539496"/>
          </a:xfrm>
          <a:prstGeom prst="rect">
            <a:avLst/>
          </a:prstGeom>
          <a:solidFill>
            <a:srgbClr val="F6F7F9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365750" y="4151375"/>
            <a:ext cx="80700" cy="539400"/>
          </a:xfrm>
          <a:prstGeom prst="rect">
            <a:avLst/>
          </a:prstGeom>
          <a:solidFill>
            <a:srgbClr val="1D73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8"/>
          <p:cNvSpPr/>
          <p:nvPr/>
        </p:nvSpPr>
        <p:spPr>
          <a:xfrm>
            <a:off x="0" y="4754880"/>
            <a:ext cx="9144000" cy="338328"/>
          </a:xfrm>
          <a:prstGeom prst="rect">
            <a:avLst/>
          </a:prstGeom>
          <a:solidFill>
            <a:srgbClr val="D2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365750" y="4800600"/>
            <a:ext cx="84126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6"/>
              </a:buClr>
              <a:buSzPts val="1100"/>
              <a:buFont typeface="Consolas"/>
              <a:buNone/>
            </a:pPr>
            <a:r>
              <a:rPr lang="en">
                <a:solidFill>
                  <a:srgbClr val="004D46"/>
                </a:solidFill>
                <a:latin typeface="Consolas"/>
                <a:ea typeface="Consolas"/>
                <a:cs typeface="Consolas"/>
                <a:sym typeface="Consolas"/>
              </a:rPr>
              <a:t>Comunicaciones con Kafka - GUID de la imagen persistente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586785" y="864180"/>
            <a:ext cx="1964400" cy="338400"/>
          </a:xfrm>
          <a:prstGeom prst="rect">
            <a:avLst/>
          </a:prstGeom>
          <a:solidFill>
            <a:srgbClr val="D2ECE9"/>
          </a:solidFill>
          <a:ln cap="flat" cmpd="sng" w="9525">
            <a:solidFill>
              <a:srgbClr val="007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40" name="Google Shape;240;p18"/>
          <p:cNvSpPr/>
          <p:nvPr/>
        </p:nvSpPr>
        <p:spPr>
          <a:xfrm>
            <a:off x="586785" y="1431068"/>
            <a:ext cx="1964400" cy="338400"/>
          </a:xfrm>
          <a:prstGeom prst="rect">
            <a:avLst/>
          </a:prstGeom>
          <a:solidFill>
            <a:srgbClr val="D2ECE9"/>
          </a:solidFill>
          <a:ln cap="flat" cmpd="sng" w="9525">
            <a:solidFill>
              <a:srgbClr val="007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41" name="Google Shape;241;p18"/>
          <p:cNvSpPr/>
          <p:nvPr/>
        </p:nvSpPr>
        <p:spPr>
          <a:xfrm>
            <a:off x="586785" y="1997995"/>
            <a:ext cx="1964400" cy="338400"/>
          </a:xfrm>
          <a:prstGeom prst="rect">
            <a:avLst/>
          </a:prstGeom>
          <a:solidFill>
            <a:srgbClr val="D2ECE9"/>
          </a:solidFill>
          <a:ln cap="flat" cmpd="sng" w="9525">
            <a:solidFill>
              <a:srgbClr val="007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42" name="Google Shape;242;p18"/>
          <p:cNvSpPr/>
          <p:nvPr/>
        </p:nvSpPr>
        <p:spPr>
          <a:xfrm>
            <a:off x="586785" y="2564958"/>
            <a:ext cx="1964400" cy="338400"/>
          </a:xfrm>
          <a:prstGeom prst="rect">
            <a:avLst/>
          </a:prstGeom>
          <a:solidFill>
            <a:srgbClr val="D2ECE9"/>
          </a:solidFill>
          <a:ln cap="flat" cmpd="sng" w="9525">
            <a:solidFill>
              <a:srgbClr val="007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43" name="Google Shape;243;p18"/>
          <p:cNvSpPr/>
          <p:nvPr/>
        </p:nvSpPr>
        <p:spPr>
          <a:xfrm>
            <a:off x="586785" y="3131847"/>
            <a:ext cx="1964400" cy="338400"/>
          </a:xfrm>
          <a:prstGeom prst="rect">
            <a:avLst/>
          </a:prstGeom>
          <a:solidFill>
            <a:srgbClr val="D2ECE9"/>
          </a:solidFill>
          <a:ln cap="flat" cmpd="sng" w="9525">
            <a:solidFill>
              <a:srgbClr val="007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44" name="Google Shape;244;p18"/>
          <p:cNvSpPr/>
          <p:nvPr/>
        </p:nvSpPr>
        <p:spPr>
          <a:xfrm>
            <a:off x="586785" y="3698748"/>
            <a:ext cx="1964400" cy="338400"/>
          </a:xfrm>
          <a:prstGeom prst="rect">
            <a:avLst/>
          </a:prstGeom>
          <a:solidFill>
            <a:srgbClr val="D2ECE9"/>
          </a:solidFill>
          <a:ln cap="flat" cmpd="sng" w="9525">
            <a:solidFill>
              <a:srgbClr val="007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45" name="Google Shape;245;p18"/>
          <p:cNvSpPr/>
          <p:nvPr/>
        </p:nvSpPr>
        <p:spPr>
          <a:xfrm>
            <a:off x="586785" y="4265699"/>
            <a:ext cx="1964400" cy="338400"/>
          </a:xfrm>
          <a:prstGeom prst="rect">
            <a:avLst/>
          </a:prstGeom>
          <a:solidFill>
            <a:srgbClr val="D2ECE9"/>
          </a:solidFill>
          <a:ln cap="flat" cmpd="sng" w="9525">
            <a:solidFill>
              <a:srgbClr val="007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46" name="Google Shape;246;p18"/>
          <p:cNvSpPr/>
          <p:nvPr/>
        </p:nvSpPr>
        <p:spPr>
          <a:xfrm>
            <a:off x="2804474" y="1874783"/>
            <a:ext cx="59280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250"/>
              <a:buFont typeface="Quattrocento Sans"/>
              <a:buNone/>
            </a:pP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Registra las caras en BD</a:t>
            </a:r>
            <a:endParaRPr sz="155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2804474" y="3008642"/>
            <a:ext cx="59280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250"/>
              <a:buFont typeface="Quattrocento Sans"/>
              <a:buNone/>
            </a:pP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Actualiza edad de cada caraa en BD</a:t>
            </a:r>
            <a:endParaRPr sz="155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2804474" y="4142500"/>
            <a:ext cx="59280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250"/>
              <a:buFont typeface="Quattrocento Sans"/>
              <a:buNone/>
            </a:pP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Monta la imagen </a:t>
            </a:r>
            <a:r>
              <a:rPr b="1"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pixelada</a:t>
            </a: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y con </a:t>
            </a:r>
            <a:r>
              <a:rPr b="1"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marcos</a:t>
            </a: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→ URL para API 2</a:t>
            </a:r>
            <a:endParaRPr i="0" sz="1550" u="none" cap="none" strike="noStrik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586785" y="2057673"/>
            <a:ext cx="1964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900"/>
              <a:buFont typeface="Consolas"/>
              <a:buNone/>
            </a:pPr>
            <a:r>
              <a:rPr b="1" lang="en" sz="1500">
                <a:solidFill>
                  <a:srgbClr val="00786E"/>
                </a:solidFill>
                <a:latin typeface="Consolas"/>
                <a:ea typeface="Consolas"/>
                <a:cs typeface="Consolas"/>
                <a:sym typeface="Consolas"/>
              </a:rPr>
              <a:t>O2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586785" y="3191525"/>
            <a:ext cx="1964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900"/>
              <a:buFont typeface="Consolas"/>
              <a:buNone/>
            </a:pPr>
            <a:r>
              <a:rPr b="1" lang="en" sz="1500">
                <a:solidFill>
                  <a:srgbClr val="00786E"/>
                </a:solidFill>
                <a:latin typeface="Consolas"/>
                <a:ea typeface="Consolas"/>
                <a:cs typeface="Consolas"/>
                <a:sym typeface="Consolas"/>
              </a:rPr>
              <a:t>O3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586785" y="4325377"/>
            <a:ext cx="1964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900"/>
              <a:buFont typeface="Consolas"/>
              <a:buNone/>
            </a:pPr>
            <a:r>
              <a:rPr b="1" lang="en" sz="1500">
                <a:solidFill>
                  <a:srgbClr val="00786E"/>
                </a:solidFill>
                <a:latin typeface="Consolas"/>
                <a:ea typeface="Consolas"/>
                <a:cs typeface="Consolas"/>
                <a:sym typeface="Consolas"/>
              </a:rPr>
              <a:t>O4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586785" y="932692"/>
            <a:ext cx="1964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900"/>
              <a:buFont typeface="Consolas"/>
              <a:buNone/>
            </a:pPr>
            <a:r>
              <a:rPr b="1" lang="en" sz="1500">
                <a:solidFill>
                  <a:srgbClr val="00786E"/>
                </a:solidFill>
                <a:latin typeface="Consolas"/>
                <a:ea typeface="Consolas"/>
                <a:cs typeface="Consolas"/>
                <a:sym typeface="Consolas"/>
              </a:rPr>
              <a:t>API 1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2804474" y="2452739"/>
            <a:ext cx="59280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250"/>
              <a:buFont typeface="Quattrocento Sans"/>
              <a:buNone/>
            </a:pP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Estima las edades de las caras</a:t>
            </a:r>
            <a:endParaRPr b="0" i="0" sz="15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2804225" y="1318875"/>
            <a:ext cx="59280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250"/>
              <a:buFont typeface="Quattrocento Sans"/>
              <a:buNone/>
            </a:pP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Detecta caras con YOLO → bounding boxes → MinIO Raw</a:t>
            </a:r>
            <a:endParaRPr sz="155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2804474" y="3586597"/>
            <a:ext cx="59280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250"/>
              <a:buFont typeface="Quattrocento Sans"/>
              <a:buNone/>
            </a:pP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Pixela a los menores → marcos con detalle</a:t>
            </a:r>
            <a:endParaRPr sz="155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586785" y="1501767"/>
            <a:ext cx="1964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900"/>
              <a:buFont typeface="Consolas"/>
              <a:buNone/>
            </a:pPr>
            <a:r>
              <a:rPr b="1" lang="en" sz="1500">
                <a:solidFill>
                  <a:srgbClr val="00786E"/>
                </a:solidFill>
                <a:latin typeface="Consolas"/>
                <a:ea typeface="Consolas"/>
                <a:cs typeface="Consolas"/>
                <a:sym typeface="Consolas"/>
              </a:rPr>
              <a:t>Face Detection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586785" y="2635619"/>
            <a:ext cx="1964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900"/>
              <a:buFont typeface="Consolas"/>
              <a:buNone/>
            </a:pPr>
            <a:r>
              <a:rPr b="1" lang="en" sz="1500">
                <a:solidFill>
                  <a:srgbClr val="00786E"/>
                </a:solidFill>
                <a:latin typeface="Consolas"/>
                <a:ea typeface="Consolas"/>
                <a:cs typeface="Consolas"/>
                <a:sym typeface="Consolas"/>
              </a:rPr>
              <a:t>Age Detection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586785" y="3769472"/>
            <a:ext cx="1964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900"/>
              <a:buFont typeface="Consolas"/>
              <a:buNone/>
            </a:pPr>
            <a:r>
              <a:rPr b="1" lang="en" sz="1500">
                <a:solidFill>
                  <a:srgbClr val="00786E"/>
                </a:solidFill>
                <a:latin typeface="Consolas"/>
                <a:ea typeface="Consolas"/>
                <a:cs typeface="Consolas"/>
                <a:sym typeface="Consolas"/>
              </a:rPr>
              <a:t>Pixelation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9"/>
          <p:cNvSpPr/>
          <p:nvPr/>
        </p:nvSpPr>
        <p:spPr>
          <a:xfrm>
            <a:off x="0" y="594360"/>
            <a:ext cx="9144000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411480" y="73152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2600"/>
              <a:buFont typeface="Quattrocento Sans"/>
              <a:buNone/>
            </a:pPr>
            <a:r>
              <a:rPr b="1" i="0" lang="en" sz="30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Topics de Kafka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9"/>
          <p:cNvSpPr/>
          <p:nvPr/>
        </p:nvSpPr>
        <p:spPr>
          <a:xfrm>
            <a:off x="150100" y="778150"/>
            <a:ext cx="1880700" cy="475500"/>
          </a:xfrm>
          <a:prstGeom prst="rect">
            <a:avLst/>
          </a:prstGeom>
          <a:solidFill>
            <a:srgbClr val="D2ECE9"/>
          </a:solidFill>
          <a:ln cap="flat" cmpd="sng" w="9525">
            <a:solidFill>
              <a:srgbClr val="00786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9"/>
          <p:cNvSpPr/>
          <p:nvPr/>
        </p:nvSpPr>
        <p:spPr>
          <a:xfrm>
            <a:off x="150100" y="778150"/>
            <a:ext cx="53100" cy="47550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246543" y="778150"/>
            <a:ext cx="1784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6"/>
              </a:buClr>
              <a:buSzPts val="1050"/>
              <a:buFont typeface="Consolas"/>
              <a:buNone/>
            </a:pPr>
            <a:r>
              <a:rPr b="1" i="0" lang="en" sz="1250" u="none" cap="none" strike="noStrike">
                <a:solidFill>
                  <a:srgbClr val="004D46"/>
                </a:solidFill>
                <a:latin typeface="Consolas"/>
                <a:ea typeface="Consolas"/>
                <a:cs typeface="Consolas"/>
                <a:sym typeface="Consolas"/>
              </a:rPr>
              <a:t>images.raw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/>
          <p:nvPr/>
        </p:nvSpPr>
        <p:spPr>
          <a:xfrm>
            <a:off x="2027050" y="1011325"/>
            <a:ext cx="318900" cy="9000"/>
          </a:xfrm>
          <a:prstGeom prst="rect">
            <a:avLst/>
          </a:prstGeom>
          <a:solidFill>
            <a:srgbClr val="0070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2145488" y="851302"/>
            <a:ext cx="220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1000"/>
              <a:buFont typeface="Quattrocento Sans"/>
              <a:buNone/>
            </a:pPr>
            <a:r>
              <a:rPr b="0" i="0" lang="en" sz="1000" u="none" cap="none" strike="noStrike">
                <a:solidFill>
                  <a:srgbClr val="0078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2345955" y="778150"/>
            <a:ext cx="1954500" cy="475500"/>
          </a:xfrm>
          <a:prstGeom prst="rect">
            <a:avLst/>
          </a:prstGeom>
          <a:solidFill>
            <a:srgbClr val="D2ECE9"/>
          </a:solidFill>
          <a:ln cap="flat" cmpd="sng" w="9525">
            <a:solidFill>
              <a:srgbClr val="00786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9"/>
          <p:cNvSpPr/>
          <p:nvPr/>
        </p:nvSpPr>
        <p:spPr>
          <a:xfrm>
            <a:off x="2345955" y="778150"/>
            <a:ext cx="55200" cy="47550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9"/>
          <p:cNvSpPr/>
          <p:nvPr/>
        </p:nvSpPr>
        <p:spPr>
          <a:xfrm>
            <a:off x="2446188" y="778150"/>
            <a:ext cx="185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6"/>
              </a:buClr>
              <a:buSzPts val="1050"/>
              <a:buFont typeface="Consolas"/>
              <a:buNone/>
            </a:pPr>
            <a:r>
              <a:rPr b="1" i="0" lang="en" sz="1250" u="none" cap="none" strike="noStrike">
                <a:solidFill>
                  <a:srgbClr val="004D46"/>
                </a:solidFill>
                <a:latin typeface="Consolas"/>
                <a:ea typeface="Consolas"/>
                <a:cs typeface="Consolas"/>
                <a:sym typeface="Consolas"/>
              </a:rPr>
              <a:t>images.faces_detected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4300507" y="1011322"/>
            <a:ext cx="420900" cy="9000"/>
          </a:xfrm>
          <a:prstGeom prst="rect">
            <a:avLst/>
          </a:prstGeom>
          <a:solidFill>
            <a:srgbClr val="0070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9"/>
          <p:cNvSpPr/>
          <p:nvPr/>
        </p:nvSpPr>
        <p:spPr>
          <a:xfrm>
            <a:off x="4528607" y="851302"/>
            <a:ext cx="212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1000"/>
              <a:buFont typeface="Quattrocento Sans"/>
              <a:buNone/>
            </a:pPr>
            <a:r>
              <a:rPr b="0" i="0" lang="en" sz="1000" u="none" cap="none" strike="noStrike">
                <a:solidFill>
                  <a:srgbClr val="0078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4721493" y="778150"/>
            <a:ext cx="1880700" cy="475500"/>
          </a:xfrm>
          <a:prstGeom prst="rect">
            <a:avLst/>
          </a:prstGeom>
          <a:solidFill>
            <a:srgbClr val="D2ECE9"/>
          </a:solidFill>
          <a:ln cap="flat" cmpd="sng" w="9525">
            <a:solidFill>
              <a:srgbClr val="00786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9"/>
          <p:cNvSpPr/>
          <p:nvPr/>
        </p:nvSpPr>
        <p:spPr>
          <a:xfrm>
            <a:off x="4721493" y="778150"/>
            <a:ext cx="53100" cy="47550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9"/>
          <p:cNvSpPr/>
          <p:nvPr/>
        </p:nvSpPr>
        <p:spPr>
          <a:xfrm>
            <a:off x="4817936" y="778150"/>
            <a:ext cx="1784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6"/>
              </a:buClr>
              <a:buSzPts val="1050"/>
              <a:buFont typeface="Consolas"/>
              <a:buNone/>
            </a:pPr>
            <a:r>
              <a:rPr b="1" i="0" lang="en" sz="1250" u="none" cap="none" strike="noStrike">
                <a:solidFill>
                  <a:srgbClr val="004D46"/>
                </a:solidFill>
                <a:latin typeface="Consolas"/>
                <a:ea typeface="Consolas"/>
                <a:cs typeface="Consolas"/>
                <a:sym typeface="Consolas"/>
              </a:rPr>
              <a:t>images.age_estimated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6602130" y="1011322"/>
            <a:ext cx="405000" cy="9000"/>
          </a:xfrm>
          <a:prstGeom prst="rect">
            <a:avLst/>
          </a:prstGeom>
          <a:solidFill>
            <a:srgbClr val="0070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9"/>
          <p:cNvSpPr/>
          <p:nvPr/>
        </p:nvSpPr>
        <p:spPr>
          <a:xfrm>
            <a:off x="6814304" y="851302"/>
            <a:ext cx="212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1000"/>
              <a:buFont typeface="Quattrocento Sans"/>
              <a:buNone/>
            </a:pPr>
            <a:r>
              <a:rPr b="0" i="0" lang="en" sz="1000" u="none" cap="none" strike="noStrike">
                <a:solidFill>
                  <a:srgbClr val="0078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7007190" y="778150"/>
            <a:ext cx="1880700" cy="475500"/>
          </a:xfrm>
          <a:prstGeom prst="rect">
            <a:avLst/>
          </a:prstGeom>
          <a:solidFill>
            <a:srgbClr val="D2ECE9"/>
          </a:solidFill>
          <a:ln cap="flat" cmpd="sng" w="9525">
            <a:solidFill>
              <a:srgbClr val="00786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9"/>
          <p:cNvSpPr/>
          <p:nvPr/>
        </p:nvSpPr>
        <p:spPr>
          <a:xfrm>
            <a:off x="7007190" y="778150"/>
            <a:ext cx="53100" cy="47550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9"/>
          <p:cNvSpPr/>
          <p:nvPr/>
        </p:nvSpPr>
        <p:spPr>
          <a:xfrm>
            <a:off x="7103633" y="778150"/>
            <a:ext cx="1784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6"/>
              </a:buClr>
              <a:buSzPts val="1050"/>
              <a:buFont typeface="Consolas"/>
              <a:buNone/>
            </a:pPr>
            <a:r>
              <a:rPr b="1" i="0" lang="en" sz="1250" u="none" cap="none" strike="noStrike">
                <a:solidFill>
                  <a:srgbClr val="004D46"/>
                </a:solidFill>
                <a:latin typeface="Consolas"/>
                <a:ea typeface="Consolas"/>
                <a:cs typeface="Consolas"/>
                <a:sym typeface="Consolas"/>
              </a:rPr>
              <a:t>images.processed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365760" y="1426464"/>
            <a:ext cx="3474720" cy="621792"/>
          </a:xfrm>
          <a:prstGeom prst="rect">
            <a:avLst/>
          </a:prstGeom>
          <a:solidFill>
            <a:srgbClr val="F6F7F9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9"/>
          <p:cNvSpPr/>
          <p:nvPr/>
        </p:nvSpPr>
        <p:spPr>
          <a:xfrm>
            <a:off x="475488" y="1426464"/>
            <a:ext cx="3474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600"/>
              <a:buFont typeface="Quattrocento Sans"/>
              <a:buNone/>
            </a:pPr>
            <a:r>
              <a:rPr b="1" i="0" lang="en" sz="17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Topic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3840480" y="1426464"/>
            <a:ext cx="2423160" cy="621792"/>
          </a:xfrm>
          <a:prstGeom prst="rect">
            <a:avLst/>
          </a:prstGeom>
          <a:solidFill>
            <a:srgbClr val="F6F7F9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9"/>
          <p:cNvSpPr/>
          <p:nvPr/>
        </p:nvSpPr>
        <p:spPr>
          <a:xfrm>
            <a:off x="3950208" y="1426464"/>
            <a:ext cx="2423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600"/>
              <a:buFont typeface="Quattrocento Sans"/>
              <a:buNone/>
            </a:pPr>
            <a:r>
              <a:rPr b="1" i="0" lang="en" sz="17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"/>
          <p:cNvSpPr/>
          <p:nvPr/>
        </p:nvSpPr>
        <p:spPr>
          <a:xfrm>
            <a:off x="6263640" y="1426464"/>
            <a:ext cx="2514600" cy="621792"/>
          </a:xfrm>
          <a:prstGeom prst="rect">
            <a:avLst/>
          </a:prstGeom>
          <a:solidFill>
            <a:srgbClr val="F6F7F9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9"/>
          <p:cNvSpPr/>
          <p:nvPr/>
        </p:nvSpPr>
        <p:spPr>
          <a:xfrm>
            <a:off x="6373368" y="1426464"/>
            <a:ext cx="2514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600"/>
              <a:buFont typeface="Quattrocento Sans"/>
              <a:buNone/>
            </a:pPr>
            <a:r>
              <a:rPr b="1" i="0" lang="en" sz="17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Consumidor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9"/>
          <p:cNvSpPr/>
          <p:nvPr/>
        </p:nvSpPr>
        <p:spPr>
          <a:xfrm>
            <a:off x="365760" y="2048256"/>
            <a:ext cx="347472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475488" y="2048256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6"/>
              </a:buClr>
              <a:buSzPts val="1150"/>
              <a:buFont typeface="Consolas"/>
              <a:buNone/>
            </a:pPr>
            <a:r>
              <a:rPr b="0" i="0" lang="en" sz="1650" u="none" cap="none" strike="noStrike">
                <a:solidFill>
                  <a:srgbClr val="004D46"/>
                </a:solidFill>
                <a:latin typeface="Consolas"/>
                <a:ea typeface="Consolas"/>
                <a:cs typeface="Consolas"/>
                <a:sym typeface="Consolas"/>
              </a:rPr>
              <a:t>images.raw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/>
          <p:nvPr/>
        </p:nvSpPr>
        <p:spPr>
          <a:xfrm>
            <a:off x="3840480" y="2048256"/>
            <a:ext cx="242316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9"/>
          <p:cNvSpPr/>
          <p:nvPr/>
        </p:nvSpPr>
        <p:spPr>
          <a:xfrm>
            <a:off x="3950208" y="2048256"/>
            <a:ext cx="231343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500"/>
              <a:buFont typeface="Quattrocento Sans"/>
              <a:buNone/>
            </a:pPr>
            <a:r>
              <a:rPr b="0" i="0" lang="en" sz="160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API Gateway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6263640" y="2048256"/>
            <a:ext cx="251460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6373368" y="2048256"/>
            <a:ext cx="24048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500"/>
              <a:buFont typeface="Quattrocento Sans"/>
              <a:buNone/>
            </a:pPr>
            <a:r>
              <a:rPr b="0" i="0" lang="en" sz="160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Orquestador / Face Detection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365760" y="2670048"/>
            <a:ext cx="3474720" cy="621792"/>
          </a:xfrm>
          <a:prstGeom prst="rect">
            <a:avLst/>
          </a:prstGeom>
          <a:solidFill>
            <a:srgbClr val="F6F7F9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9"/>
          <p:cNvSpPr/>
          <p:nvPr/>
        </p:nvSpPr>
        <p:spPr>
          <a:xfrm>
            <a:off x="475488" y="2670048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6"/>
              </a:buClr>
              <a:buSzPts val="1150"/>
              <a:buFont typeface="Consolas"/>
              <a:buNone/>
            </a:pPr>
            <a:r>
              <a:rPr b="0" i="0" lang="en" sz="1650" u="none" cap="none" strike="noStrike">
                <a:solidFill>
                  <a:srgbClr val="004D46"/>
                </a:solidFill>
                <a:latin typeface="Consolas"/>
                <a:ea typeface="Consolas"/>
                <a:cs typeface="Consolas"/>
                <a:sym typeface="Consolas"/>
              </a:rPr>
              <a:t>images.faces_detected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3840480" y="2670048"/>
            <a:ext cx="2423160" cy="621792"/>
          </a:xfrm>
          <a:prstGeom prst="rect">
            <a:avLst/>
          </a:prstGeom>
          <a:solidFill>
            <a:srgbClr val="F6F7F9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>
            <a:off x="3950208" y="2670048"/>
            <a:ext cx="231343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500"/>
              <a:buFont typeface="Quattrocento Sans"/>
              <a:buNone/>
            </a:pPr>
            <a:r>
              <a:rPr b="0" i="0" lang="en" sz="160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Face Detection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6263640" y="2670048"/>
            <a:ext cx="2514600" cy="621792"/>
          </a:xfrm>
          <a:prstGeom prst="rect">
            <a:avLst/>
          </a:prstGeom>
          <a:solidFill>
            <a:srgbClr val="F6F7F9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6373368" y="2670048"/>
            <a:ext cx="24048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500"/>
              <a:buFont typeface="Quattrocento Sans"/>
              <a:buNone/>
            </a:pPr>
            <a:r>
              <a:rPr b="0" i="0" lang="en" sz="160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Orquestador O2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365760" y="3291840"/>
            <a:ext cx="347472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9"/>
          <p:cNvSpPr/>
          <p:nvPr/>
        </p:nvSpPr>
        <p:spPr>
          <a:xfrm>
            <a:off x="475488" y="3291840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6"/>
              </a:buClr>
              <a:buSzPts val="1150"/>
              <a:buFont typeface="Consolas"/>
              <a:buNone/>
            </a:pPr>
            <a:r>
              <a:rPr b="0" i="0" lang="en" sz="1650" u="none" cap="none" strike="noStrike">
                <a:solidFill>
                  <a:srgbClr val="004D46"/>
                </a:solidFill>
                <a:latin typeface="Consolas"/>
                <a:ea typeface="Consolas"/>
                <a:cs typeface="Consolas"/>
                <a:sym typeface="Consolas"/>
              </a:rPr>
              <a:t>images.age_estimated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9"/>
          <p:cNvSpPr/>
          <p:nvPr/>
        </p:nvSpPr>
        <p:spPr>
          <a:xfrm>
            <a:off x="3840480" y="3291840"/>
            <a:ext cx="242316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9"/>
          <p:cNvSpPr/>
          <p:nvPr/>
        </p:nvSpPr>
        <p:spPr>
          <a:xfrm>
            <a:off x="3950208" y="3291840"/>
            <a:ext cx="231343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500"/>
              <a:buFont typeface="Quattrocento Sans"/>
              <a:buNone/>
            </a:pPr>
            <a:r>
              <a:rPr b="0" i="0" lang="en" sz="160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 Detection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9"/>
          <p:cNvSpPr/>
          <p:nvPr/>
        </p:nvSpPr>
        <p:spPr>
          <a:xfrm>
            <a:off x="6263640" y="3291840"/>
            <a:ext cx="251460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9"/>
          <p:cNvSpPr/>
          <p:nvPr/>
        </p:nvSpPr>
        <p:spPr>
          <a:xfrm>
            <a:off x="6373368" y="3291840"/>
            <a:ext cx="24048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500"/>
              <a:buFont typeface="Quattrocento Sans"/>
              <a:buNone/>
            </a:pPr>
            <a:r>
              <a:rPr b="0" i="0" lang="en" sz="160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Orquestador O3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365760" y="3913632"/>
            <a:ext cx="3474720" cy="621792"/>
          </a:xfrm>
          <a:prstGeom prst="rect">
            <a:avLst/>
          </a:prstGeom>
          <a:solidFill>
            <a:srgbClr val="F6F7F9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9"/>
          <p:cNvSpPr/>
          <p:nvPr/>
        </p:nvSpPr>
        <p:spPr>
          <a:xfrm>
            <a:off x="475488" y="3913632"/>
            <a:ext cx="33649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4D46"/>
              </a:buClr>
              <a:buSzPts val="1150"/>
              <a:buFont typeface="Consolas"/>
              <a:buNone/>
            </a:pPr>
            <a:r>
              <a:rPr b="0" i="0" lang="en" sz="1650" u="none" cap="none" strike="noStrike">
                <a:solidFill>
                  <a:srgbClr val="004D46"/>
                </a:solidFill>
                <a:latin typeface="Consolas"/>
                <a:ea typeface="Consolas"/>
                <a:cs typeface="Consolas"/>
                <a:sym typeface="Consolas"/>
              </a:rPr>
              <a:t>images.processed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9"/>
          <p:cNvSpPr/>
          <p:nvPr/>
        </p:nvSpPr>
        <p:spPr>
          <a:xfrm>
            <a:off x="3840480" y="3913632"/>
            <a:ext cx="2423160" cy="621792"/>
          </a:xfrm>
          <a:prstGeom prst="rect">
            <a:avLst/>
          </a:prstGeom>
          <a:solidFill>
            <a:srgbClr val="F6F7F9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9"/>
          <p:cNvSpPr/>
          <p:nvPr/>
        </p:nvSpPr>
        <p:spPr>
          <a:xfrm>
            <a:off x="3950208" y="3913632"/>
            <a:ext cx="231343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500"/>
              <a:buFont typeface="Quattrocento Sans"/>
              <a:buNone/>
            </a:pPr>
            <a:r>
              <a:rPr b="0" i="0" lang="en" sz="160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Pixelation Svc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/>
          <p:nvPr/>
        </p:nvSpPr>
        <p:spPr>
          <a:xfrm>
            <a:off x="6263640" y="3913632"/>
            <a:ext cx="2514600" cy="621792"/>
          </a:xfrm>
          <a:prstGeom prst="rect">
            <a:avLst/>
          </a:prstGeom>
          <a:solidFill>
            <a:srgbClr val="F6F7F9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9"/>
          <p:cNvSpPr/>
          <p:nvPr/>
        </p:nvSpPr>
        <p:spPr>
          <a:xfrm>
            <a:off x="6373368" y="3913632"/>
            <a:ext cx="240487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500"/>
              <a:buFont typeface="Quattrocento Sans"/>
              <a:buNone/>
            </a:pPr>
            <a:r>
              <a:rPr b="0" i="0" lang="en" sz="160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Orquestador O4 → Storage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/>
          <p:nvPr/>
        </p:nvSpPr>
        <p:spPr>
          <a:xfrm>
            <a:off x="0" y="4626864"/>
            <a:ext cx="9144000" cy="466344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9"/>
          <p:cNvSpPr/>
          <p:nvPr/>
        </p:nvSpPr>
        <p:spPr>
          <a:xfrm>
            <a:off x="0" y="4626864"/>
            <a:ext cx="9144000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/>
          <p:nvPr/>
        </p:nvSpPr>
        <p:spPr>
          <a:xfrm>
            <a:off x="0" y="0"/>
            <a:ext cx="9144000" cy="5943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0"/>
          <p:cNvSpPr/>
          <p:nvPr/>
        </p:nvSpPr>
        <p:spPr>
          <a:xfrm>
            <a:off x="0" y="594360"/>
            <a:ext cx="9144000" cy="11100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0"/>
          <p:cNvSpPr/>
          <p:nvPr/>
        </p:nvSpPr>
        <p:spPr>
          <a:xfrm>
            <a:off x="411480" y="73152"/>
            <a:ext cx="8321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2600"/>
              <a:buFont typeface="Quattrocento Sans"/>
              <a:buNone/>
            </a:pPr>
            <a:r>
              <a:rPr b="1" lang="en" sz="3100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Modelo de predicción de Edad</a:t>
            </a:r>
            <a:endParaRPr b="1" sz="3100">
              <a:solidFill>
                <a:srgbClr val="1C212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0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365760" y="749808"/>
            <a:ext cx="8412600" cy="539400"/>
          </a:xfrm>
          <a:prstGeom prst="rect">
            <a:avLst/>
          </a:prstGeom>
          <a:solidFill>
            <a:srgbClr val="F6F7F9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0"/>
          <p:cNvSpPr/>
          <p:nvPr/>
        </p:nvSpPr>
        <p:spPr>
          <a:xfrm>
            <a:off x="365760" y="749808"/>
            <a:ext cx="50400" cy="53940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0"/>
          <p:cNvSpPr/>
          <p:nvPr/>
        </p:nvSpPr>
        <p:spPr>
          <a:xfrm>
            <a:off x="499575" y="804675"/>
            <a:ext cx="823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1000"/>
              <a:buFont typeface="Consolas"/>
              <a:buNone/>
            </a:pPr>
            <a:r>
              <a:rPr lang="en" sz="2000">
                <a:solidFill>
                  <a:srgbClr val="00786E"/>
                </a:solidFill>
                <a:latin typeface="Consolas"/>
                <a:ea typeface="Consolas"/>
                <a:cs typeface="Consolas"/>
                <a:sym typeface="Consolas"/>
              </a:rPr>
              <a:t>MobileNetV2 (fine-tuned)</a:t>
            </a:r>
            <a:endParaRPr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365760" y="1316736"/>
            <a:ext cx="8412600" cy="53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0"/>
          <p:cNvSpPr/>
          <p:nvPr/>
        </p:nvSpPr>
        <p:spPr>
          <a:xfrm>
            <a:off x="365760" y="1316736"/>
            <a:ext cx="50400" cy="539400"/>
          </a:xfrm>
          <a:prstGeom prst="rect">
            <a:avLst/>
          </a:prstGeom>
          <a:solidFill>
            <a:srgbClr val="296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0"/>
          <p:cNvSpPr/>
          <p:nvPr/>
        </p:nvSpPr>
        <p:spPr>
          <a:xfrm>
            <a:off x="365760" y="1883664"/>
            <a:ext cx="8412600" cy="539400"/>
          </a:xfrm>
          <a:prstGeom prst="rect">
            <a:avLst/>
          </a:prstGeom>
          <a:solidFill>
            <a:srgbClr val="F6F7F9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0"/>
          <p:cNvSpPr/>
          <p:nvPr/>
        </p:nvSpPr>
        <p:spPr>
          <a:xfrm>
            <a:off x="365760" y="1883664"/>
            <a:ext cx="50400" cy="53940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0"/>
          <p:cNvSpPr/>
          <p:nvPr/>
        </p:nvSpPr>
        <p:spPr>
          <a:xfrm>
            <a:off x="365760" y="2450592"/>
            <a:ext cx="8412600" cy="53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0"/>
          <p:cNvSpPr/>
          <p:nvPr/>
        </p:nvSpPr>
        <p:spPr>
          <a:xfrm>
            <a:off x="365760" y="2450592"/>
            <a:ext cx="50400" cy="539400"/>
          </a:xfrm>
          <a:prstGeom prst="rect">
            <a:avLst/>
          </a:prstGeom>
          <a:solidFill>
            <a:srgbClr val="296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0"/>
          <p:cNvSpPr/>
          <p:nvPr/>
        </p:nvSpPr>
        <p:spPr>
          <a:xfrm>
            <a:off x="365760" y="3017520"/>
            <a:ext cx="8412600" cy="539400"/>
          </a:xfrm>
          <a:prstGeom prst="rect">
            <a:avLst/>
          </a:prstGeom>
          <a:solidFill>
            <a:srgbClr val="F6F7F9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0"/>
          <p:cNvSpPr/>
          <p:nvPr/>
        </p:nvSpPr>
        <p:spPr>
          <a:xfrm>
            <a:off x="365760" y="3017520"/>
            <a:ext cx="50400" cy="539400"/>
          </a:xfrm>
          <a:prstGeom prst="rect">
            <a:avLst/>
          </a:prstGeom>
          <a:solidFill>
            <a:srgbClr val="7745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0"/>
          <p:cNvSpPr/>
          <p:nvPr/>
        </p:nvSpPr>
        <p:spPr>
          <a:xfrm>
            <a:off x="365760" y="3584448"/>
            <a:ext cx="8412600" cy="539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0"/>
          <p:cNvSpPr/>
          <p:nvPr/>
        </p:nvSpPr>
        <p:spPr>
          <a:xfrm>
            <a:off x="365760" y="3584448"/>
            <a:ext cx="50400" cy="539400"/>
          </a:xfrm>
          <a:prstGeom prst="rect">
            <a:avLst/>
          </a:prstGeom>
          <a:solidFill>
            <a:srgbClr val="296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0"/>
          <p:cNvSpPr/>
          <p:nvPr/>
        </p:nvSpPr>
        <p:spPr>
          <a:xfrm>
            <a:off x="365760" y="4151376"/>
            <a:ext cx="8412600" cy="539400"/>
          </a:xfrm>
          <a:prstGeom prst="rect">
            <a:avLst/>
          </a:prstGeom>
          <a:solidFill>
            <a:srgbClr val="F6F7F9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0"/>
          <p:cNvSpPr/>
          <p:nvPr/>
        </p:nvSpPr>
        <p:spPr>
          <a:xfrm>
            <a:off x="365760" y="4151376"/>
            <a:ext cx="50400" cy="539400"/>
          </a:xfrm>
          <a:prstGeom prst="rect">
            <a:avLst/>
          </a:prstGeom>
          <a:solidFill>
            <a:srgbClr val="1D73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0"/>
          <p:cNvSpPr/>
          <p:nvPr/>
        </p:nvSpPr>
        <p:spPr>
          <a:xfrm>
            <a:off x="0" y="4754880"/>
            <a:ext cx="9144000" cy="338400"/>
          </a:xfrm>
          <a:prstGeom prst="rect">
            <a:avLst/>
          </a:prstGeom>
          <a:solidFill>
            <a:srgbClr val="D2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0"/>
          <p:cNvSpPr/>
          <p:nvPr/>
        </p:nvSpPr>
        <p:spPr>
          <a:xfrm>
            <a:off x="499575" y="1929658"/>
            <a:ext cx="334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65CC"/>
              </a:buClr>
              <a:buSzPts val="1000"/>
              <a:buFont typeface="Consolas"/>
              <a:buNone/>
            </a:pPr>
            <a:r>
              <a:rPr lang="en" sz="1600">
                <a:solidFill>
                  <a:srgbClr val="2965CC"/>
                </a:solidFill>
                <a:latin typeface="Consolas"/>
                <a:ea typeface="Consolas"/>
                <a:cs typeface="Consolas"/>
                <a:sym typeface="Consolas"/>
              </a:rPr>
              <a:t>Datos de Entrenamiento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3888928" y="1874783"/>
            <a:ext cx="48438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250"/>
              <a:buFont typeface="Quattrocento Sans"/>
              <a:buNone/>
            </a:pP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85 % entrenamiento / 15 % validación</a:t>
            </a:r>
            <a:endParaRPr sz="155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Splits por franjas de edad</a:t>
            </a:r>
            <a:endParaRPr sz="155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7" name="Google Shape;347;p20"/>
          <p:cNvSpPr/>
          <p:nvPr/>
        </p:nvSpPr>
        <p:spPr>
          <a:xfrm>
            <a:off x="499575" y="3063517"/>
            <a:ext cx="334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65CC"/>
              </a:buClr>
              <a:buSzPts val="1000"/>
              <a:buFont typeface="Consolas"/>
              <a:buNone/>
            </a:pPr>
            <a:r>
              <a:rPr lang="en" sz="1600">
                <a:solidFill>
                  <a:srgbClr val="2965CC"/>
                </a:solidFill>
                <a:latin typeface="Consolas"/>
                <a:ea typeface="Consolas"/>
                <a:cs typeface="Consolas"/>
                <a:sym typeface="Consolas"/>
              </a:rPr>
              <a:t>WeightedRandomSampler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3888928" y="3008642"/>
            <a:ext cx="48438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250"/>
              <a:buFont typeface="Quattrocento Sans"/>
              <a:buNone/>
            </a:pP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x1.5 de </a:t>
            </a: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0-20 años (x2 de 13-17 años)</a:t>
            </a:r>
            <a:endParaRPr sz="155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499575" y="4197375"/>
            <a:ext cx="334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65CC"/>
              </a:buClr>
              <a:buSzPts val="1000"/>
              <a:buFont typeface="Consolas"/>
              <a:buNone/>
            </a:pPr>
            <a:r>
              <a:rPr lang="en" sz="1600">
                <a:solidFill>
                  <a:srgbClr val="2965CC"/>
                </a:solidFill>
                <a:latin typeface="Consolas"/>
                <a:ea typeface="Consolas"/>
                <a:cs typeface="Consolas"/>
                <a:sym typeface="Consolas"/>
              </a:rPr>
              <a:t>Entrenamiento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2274975" y="4142500"/>
            <a:ext cx="64578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 → 8 epoch - Solo cabeza (backbone congelado) - Adam, lr=1e-3</a:t>
            </a:r>
            <a:endParaRPr sz="155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→ 22 epoch - Backbone + cabeza (fine-tuning)	- AdamW, lr diferenciado</a:t>
            </a:r>
            <a:endParaRPr sz="155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499575" y="1373756"/>
            <a:ext cx="334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1000"/>
              <a:buFont typeface="Consolas"/>
              <a:buNone/>
            </a:pPr>
            <a:r>
              <a:rPr lang="en" sz="1600">
                <a:solidFill>
                  <a:srgbClr val="00786E"/>
                </a:solidFill>
                <a:latin typeface="Consolas"/>
                <a:ea typeface="Consolas"/>
                <a:cs typeface="Consolas"/>
                <a:sym typeface="Consolas"/>
              </a:rPr>
              <a:t>Umbral conservador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499575" y="2507614"/>
            <a:ext cx="334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450D"/>
              </a:buClr>
              <a:buSzPts val="1000"/>
              <a:buFont typeface="Consolas"/>
              <a:buNone/>
            </a:pPr>
            <a:r>
              <a:rPr lang="en" sz="1600">
                <a:solidFill>
                  <a:srgbClr val="77450D"/>
                </a:solidFill>
                <a:latin typeface="Consolas"/>
                <a:ea typeface="Consolas"/>
                <a:cs typeface="Consolas"/>
                <a:sym typeface="Consolas"/>
              </a:rPr>
              <a:t>Aumento de datos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3888928" y="2452739"/>
            <a:ext cx="48438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Volteo horizontal, Rotación aleatoria, ColorJitter, RandomGrayscale, RandomErasing</a:t>
            </a:r>
            <a:endParaRPr sz="155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3888725" y="1318875"/>
            <a:ext cx="48438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250"/>
              <a:buFont typeface="Quattrocento Sans"/>
              <a:buNone/>
            </a:pP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 años (margen de seguridad)</a:t>
            </a:r>
            <a:endParaRPr sz="155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499575" y="3641472"/>
            <a:ext cx="334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324"/>
              </a:buClr>
              <a:buSzPts val="1000"/>
              <a:buFont typeface="Consolas"/>
              <a:buNone/>
            </a:pPr>
            <a:r>
              <a:rPr lang="en" sz="1600">
                <a:solidFill>
                  <a:srgbClr val="1D7324"/>
                </a:solidFill>
                <a:latin typeface="Consolas"/>
                <a:ea typeface="Consolas"/>
                <a:cs typeface="Consolas"/>
                <a:sym typeface="Consolas"/>
              </a:rPr>
              <a:t>Arquitectura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3888500" y="3586600"/>
            <a:ext cx="48438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250"/>
              <a:buFont typeface="Quattrocento Sans"/>
              <a:buNone/>
            </a:pP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Dropout(0.3) </a:t>
            </a: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Linear(1280</a:t>
            </a: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256) </a:t>
            </a: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r>
              <a:rPr lang="en" sz="15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ReLU → Dropout(0.2) → Linear(256→1)</a:t>
            </a:r>
            <a:endParaRPr sz="155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1"/>
          <p:cNvSpPr/>
          <p:nvPr/>
        </p:nvSpPr>
        <p:spPr>
          <a:xfrm>
            <a:off x="0" y="0"/>
            <a:ext cx="9144000" cy="5943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1"/>
          <p:cNvSpPr/>
          <p:nvPr/>
        </p:nvSpPr>
        <p:spPr>
          <a:xfrm>
            <a:off x="0" y="594360"/>
            <a:ext cx="9144000" cy="11100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1"/>
          <p:cNvSpPr/>
          <p:nvPr/>
        </p:nvSpPr>
        <p:spPr>
          <a:xfrm>
            <a:off x="411480" y="73152"/>
            <a:ext cx="8321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2600"/>
              <a:buFont typeface="Quattrocento Sans"/>
              <a:buNone/>
            </a:pPr>
            <a:r>
              <a:rPr b="1" lang="en" sz="3000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Función de pérdida</a:t>
            </a:r>
            <a:endParaRPr b="1" sz="3000">
              <a:solidFill>
                <a:srgbClr val="1C212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5" name="Google Shape;365;p21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1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1"/>
          <p:cNvSpPr/>
          <p:nvPr/>
        </p:nvSpPr>
        <p:spPr>
          <a:xfrm>
            <a:off x="244025" y="1552275"/>
            <a:ext cx="82263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5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Loss = HuberLoss + α · BCE</a:t>
            </a:r>
            <a:endParaRPr b="1" sz="265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0" y="4754880"/>
            <a:ext cx="9144000" cy="338400"/>
          </a:xfrm>
          <a:prstGeom prst="rect">
            <a:avLst/>
          </a:prstGeom>
          <a:solidFill>
            <a:srgbClr val="D2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1"/>
          <p:cNvSpPr/>
          <p:nvPr/>
        </p:nvSpPr>
        <p:spPr>
          <a:xfrm>
            <a:off x="314876" y="822950"/>
            <a:ext cx="7932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800"/>
              <a:buFont typeface="Quattrocento Sans"/>
              <a:buNone/>
            </a:pPr>
            <a:r>
              <a:rPr lang="en" sz="2000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BoundaryAwareLoss — pérdida con consciencia del umbral</a:t>
            </a:r>
            <a:endParaRPr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482300" y="2611800"/>
            <a:ext cx="79329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Quattrocento Sans"/>
              <a:buChar char="❏"/>
            </a:pPr>
            <a:r>
              <a:rPr i="1" lang="en" sz="18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HuberLoss → penaliza el error de regresión (años de diferencia), robusto a outliers</a:t>
            </a:r>
            <a:endParaRPr i="1" sz="18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Quattrocento Sans"/>
              <a:buChar char="❏"/>
            </a:pPr>
            <a:r>
              <a:rPr i="1" lang="en" sz="18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BCE → penaliza cruzar el umbral de 18 años en la dirección equivocada</a:t>
            </a:r>
            <a:endParaRPr i="1" sz="18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Quattrocento Sans"/>
              <a:buChar char="❏"/>
            </a:pPr>
            <a:r>
              <a:rPr i="1" lang="en" sz="18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α = 0.7 → el término de clasificación pesa más que la regresión pura</a:t>
            </a:r>
            <a:endParaRPr i="1" sz="18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2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2"/>
          <p:cNvSpPr/>
          <p:nvPr/>
        </p:nvSpPr>
        <p:spPr>
          <a:xfrm>
            <a:off x="0" y="502920"/>
            <a:ext cx="9144000" cy="11100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2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2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2"/>
          <p:cNvSpPr/>
          <p:nvPr/>
        </p:nvSpPr>
        <p:spPr>
          <a:xfrm>
            <a:off x="165300" y="73150"/>
            <a:ext cx="6189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2200"/>
              <a:buFont typeface="Quattrocento Sans"/>
              <a:buNone/>
            </a:pPr>
            <a:r>
              <a:rPr b="1" i="0" lang="en" sz="30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Métricas del Modelo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4046834" y="127063"/>
            <a:ext cx="1312200" cy="299100"/>
          </a:xfrm>
          <a:prstGeom prst="rect">
            <a:avLst/>
          </a:prstGeom>
          <a:solidFill>
            <a:srgbClr val="D2ECE9"/>
          </a:solidFill>
          <a:ln cap="flat" cmpd="sng" w="12000">
            <a:solidFill>
              <a:srgbClr val="007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075" lIns="115075" spcFirstLastPara="1" rIns="115075" wrap="square" tIns="115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2"/>
          <p:cNvSpPr/>
          <p:nvPr/>
        </p:nvSpPr>
        <p:spPr>
          <a:xfrm>
            <a:off x="4046834" y="127063"/>
            <a:ext cx="13119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6"/>
              </a:buClr>
              <a:buSzPts val="1259"/>
              <a:buFont typeface="Consolas"/>
              <a:buNone/>
            </a:pPr>
            <a:r>
              <a:rPr b="1" i="0" lang="en" sz="1259" u="none" cap="none" strike="noStrike">
                <a:solidFill>
                  <a:srgbClr val="004D46"/>
                </a:solidFill>
                <a:latin typeface="Consolas"/>
                <a:ea typeface="Consolas"/>
                <a:cs typeface="Consolas"/>
                <a:sym typeface="Consolas"/>
              </a:rPr>
              <a:t>MAE 4.5a</a:t>
            </a:r>
            <a:endParaRPr b="0" i="0" sz="12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5473894" y="127063"/>
            <a:ext cx="1841400" cy="299100"/>
          </a:xfrm>
          <a:prstGeom prst="rect">
            <a:avLst/>
          </a:prstGeom>
          <a:solidFill>
            <a:srgbClr val="D4EED4"/>
          </a:solidFill>
          <a:ln cap="flat" cmpd="sng" w="12000">
            <a:solidFill>
              <a:srgbClr val="1D73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075" lIns="115075" spcFirstLastPara="1" rIns="115075" wrap="square" tIns="115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2"/>
          <p:cNvSpPr/>
          <p:nvPr/>
        </p:nvSpPr>
        <p:spPr>
          <a:xfrm>
            <a:off x="5473894" y="127063"/>
            <a:ext cx="18414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7324"/>
              </a:buClr>
              <a:buSzPts val="1259"/>
              <a:buFont typeface="Consolas"/>
              <a:buNone/>
            </a:pPr>
            <a:r>
              <a:rPr b="1" i="0" lang="en" sz="1259" u="none" cap="none" strike="noStrike">
                <a:solidFill>
                  <a:srgbClr val="1D7324"/>
                </a:solidFill>
                <a:latin typeface="Consolas"/>
                <a:ea typeface="Consolas"/>
                <a:cs typeface="Consolas"/>
                <a:sym typeface="Consolas"/>
              </a:rPr>
              <a:t>Recall 96.8%</a:t>
            </a:r>
            <a:endParaRPr b="0" i="0" sz="12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7430347" y="127063"/>
            <a:ext cx="1576500" cy="299100"/>
          </a:xfrm>
          <a:prstGeom prst="rect">
            <a:avLst/>
          </a:prstGeom>
          <a:solidFill>
            <a:srgbClr val="F6F7F9"/>
          </a:solidFill>
          <a:ln cap="flat" cmpd="sng" w="12000">
            <a:solidFill>
              <a:srgbClr val="C5C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075" lIns="115075" spcFirstLastPara="1" rIns="115075" wrap="square" tIns="115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2"/>
          <p:cNvSpPr/>
          <p:nvPr/>
        </p:nvSpPr>
        <p:spPr>
          <a:xfrm>
            <a:off x="7430347" y="127063"/>
            <a:ext cx="157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259"/>
              <a:buFont typeface="Consolas"/>
              <a:buNone/>
            </a:pPr>
            <a:r>
              <a:rPr b="1" i="0" lang="en" sz="1259" u="none" cap="none" strike="noStrike">
                <a:solidFill>
                  <a:srgbClr val="5F6B7C"/>
                </a:solidFill>
                <a:latin typeface="Consolas"/>
                <a:ea typeface="Consolas"/>
                <a:cs typeface="Consolas"/>
                <a:sym typeface="Consolas"/>
              </a:rPr>
              <a:t>Umbral 22a</a:t>
            </a:r>
            <a:endParaRPr b="0" i="0" sz="12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7" name="Google Shape;387;p22"/>
          <p:cNvGrpSpPr/>
          <p:nvPr/>
        </p:nvGrpSpPr>
        <p:grpSpPr>
          <a:xfrm>
            <a:off x="859250" y="603050"/>
            <a:ext cx="7425500" cy="4429451"/>
            <a:chOff x="859250" y="603050"/>
            <a:chExt cx="7425500" cy="4429451"/>
          </a:xfrm>
        </p:grpSpPr>
        <p:pic>
          <p:nvPicPr>
            <p:cNvPr descr="preencoded.png" id="388" name="Google Shape;388;p22"/>
            <p:cNvPicPr preferRelativeResize="0"/>
            <p:nvPr/>
          </p:nvPicPr>
          <p:blipFill rotWithShape="1">
            <a:blip r:embed="rId3">
              <a:alphaModFix/>
            </a:blip>
            <a:srcRect b="0" l="50000" r="0" t="11715"/>
            <a:stretch/>
          </p:blipFill>
          <p:spPr>
            <a:xfrm>
              <a:off x="859250" y="645500"/>
              <a:ext cx="7425500" cy="4387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reencoded.png" id="389" name="Google Shape;389;p22"/>
            <p:cNvPicPr preferRelativeResize="0"/>
            <p:nvPr/>
          </p:nvPicPr>
          <p:blipFill rotWithShape="1">
            <a:blip r:embed="rId3">
              <a:alphaModFix/>
            </a:blip>
            <a:srcRect b="0" l="50000" r="44973" t="10865"/>
            <a:stretch/>
          </p:blipFill>
          <p:spPr>
            <a:xfrm>
              <a:off x="859250" y="603050"/>
              <a:ext cx="746624" cy="44294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3"/>
          <p:cNvSpPr/>
          <p:nvPr/>
        </p:nvSpPr>
        <p:spPr>
          <a:xfrm>
            <a:off x="0" y="502920"/>
            <a:ext cx="9144000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3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3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3"/>
          <p:cNvSpPr/>
          <p:nvPr/>
        </p:nvSpPr>
        <p:spPr>
          <a:xfrm>
            <a:off x="411480" y="73152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2200"/>
              <a:buFont typeface="Quattrocento Sans"/>
              <a:buNone/>
            </a:pPr>
            <a:r>
              <a:rPr b="1" i="0" lang="en" sz="22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Métricas del Modelo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4046834" y="127063"/>
            <a:ext cx="1312200" cy="299100"/>
          </a:xfrm>
          <a:prstGeom prst="rect">
            <a:avLst/>
          </a:prstGeom>
          <a:solidFill>
            <a:srgbClr val="D2ECE9"/>
          </a:solidFill>
          <a:ln cap="flat" cmpd="sng" w="12000">
            <a:solidFill>
              <a:srgbClr val="007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075" lIns="115075" spcFirstLastPara="1" rIns="115075" wrap="square" tIns="115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3"/>
          <p:cNvSpPr/>
          <p:nvPr/>
        </p:nvSpPr>
        <p:spPr>
          <a:xfrm>
            <a:off x="4046834" y="127063"/>
            <a:ext cx="13119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6"/>
              </a:buClr>
              <a:buSzPts val="1259"/>
              <a:buFont typeface="Consolas"/>
              <a:buNone/>
            </a:pPr>
            <a:r>
              <a:rPr b="1" i="0" lang="en" sz="1259" u="none" cap="none" strike="noStrike">
                <a:solidFill>
                  <a:srgbClr val="004D46"/>
                </a:solidFill>
                <a:latin typeface="Consolas"/>
                <a:ea typeface="Consolas"/>
                <a:cs typeface="Consolas"/>
                <a:sym typeface="Consolas"/>
              </a:rPr>
              <a:t>MAE 4.5a</a:t>
            </a:r>
            <a:endParaRPr b="0" i="0" sz="12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5473894" y="127063"/>
            <a:ext cx="1841400" cy="299100"/>
          </a:xfrm>
          <a:prstGeom prst="rect">
            <a:avLst/>
          </a:prstGeom>
          <a:solidFill>
            <a:srgbClr val="D4EED4"/>
          </a:solidFill>
          <a:ln cap="flat" cmpd="sng" w="12000">
            <a:solidFill>
              <a:srgbClr val="1D73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075" lIns="115075" spcFirstLastPara="1" rIns="115075" wrap="square" tIns="115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3"/>
          <p:cNvSpPr/>
          <p:nvPr/>
        </p:nvSpPr>
        <p:spPr>
          <a:xfrm>
            <a:off x="5473894" y="127063"/>
            <a:ext cx="18414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7324"/>
              </a:buClr>
              <a:buSzPts val="1259"/>
              <a:buFont typeface="Consolas"/>
              <a:buNone/>
            </a:pPr>
            <a:r>
              <a:rPr b="1" i="0" lang="en" sz="1259" u="none" cap="none" strike="noStrike">
                <a:solidFill>
                  <a:srgbClr val="1D7324"/>
                </a:solidFill>
                <a:latin typeface="Consolas"/>
                <a:ea typeface="Consolas"/>
                <a:cs typeface="Consolas"/>
                <a:sym typeface="Consolas"/>
              </a:rPr>
              <a:t>Recall 96.8%</a:t>
            </a:r>
            <a:endParaRPr b="0" i="0" sz="12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3"/>
          <p:cNvSpPr/>
          <p:nvPr/>
        </p:nvSpPr>
        <p:spPr>
          <a:xfrm>
            <a:off x="7430347" y="127063"/>
            <a:ext cx="1576500" cy="299100"/>
          </a:xfrm>
          <a:prstGeom prst="rect">
            <a:avLst/>
          </a:prstGeom>
          <a:solidFill>
            <a:srgbClr val="F6F7F9"/>
          </a:solidFill>
          <a:ln cap="flat" cmpd="sng" w="12000">
            <a:solidFill>
              <a:srgbClr val="C5C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075" lIns="115075" spcFirstLastPara="1" rIns="115075" wrap="square" tIns="115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3"/>
          <p:cNvSpPr/>
          <p:nvPr/>
        </p:nvSpPr>
        <p:spPr>
          <a:xfrm>
            <a:off x="7430347" y="127063"/>
            <a:ext cx="157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259"/>
              <a:buFont typeface="Consolas"/>
              <a:buNone/>
            </a:pPr>
            <a:r>
              <a:rPr b="1" i="0" lang="en" sz="1259" u="none" cap="none" strike="noStrike">
                <a:solidFill>
                  <a:srgbClr val="5F6B7C"/>
                </a:solidFill>
                <a:latin typeface="Consolas"/>
                <a:ea typeface="Consolas"/>
                <a:cs typeface="Consolas"/>
                <a:sym typeface="Consolas"/>
              </a:rPr>
              <a:t>Umbral 22a</a:t>
            </a:r>
            <a:endParaRPr b="0" i="0" sz="12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6" name="Google Shape;406;p23"/>
          <p:cNvPicPr preferRelativeResize="0"/>
          <p:nvPr/>
        </p:nvPicPr>
        <p:blipFill rotWithShape="1">
          <a:blip r:embed="rId3">
            <a:alphaModFix/>
          </a:blip>
          <a:srcRect b="48470" l="60709" r="2502" t="0"/>
          <a:stretch/>
        </p:blipFill>
        <p:spPr>
          <a:xfrm>
            <a:off x="1818776" y="801975"/>
            <a:ext cx="5533577" cy="3915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4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4"/>
          <p:cNvSpPr/>
          <p:nvPr/>
        </p:nvSpPr>
        <p:spPr>
          <a:xfrm>
            <a:off x="0" y="502920"/>
            <a:ext cx="9144000" cy="11100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4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4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4"/>
          <p:cNvSpPr/>
          <p:nvPr/>
        </p:nvSpPr>
        <p:spPr>
          <a:xfrm>
            <a:off x="411480" y="73152"/>
            <a:ext cx="5943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2200"/>
              <a:buFont typeface="Quattrocento Sans"/>
              <a:buNone/>
            </a:pPr>
            <a:r>
              <a:rPr b="1" i="0" lang="en" sz="22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Métricas del Modelo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4046834" y="127063"/>
            <a:ext cx="1312200" cy="299100"/>
          </a:xfrm>
          <a:prstGeom prst="rect">
            <a:avLst/>
          </a:prstGeom>
          <a:solidFill>
            <a:srgbClr val="D2ECE9"/>
          </a:solidFill>
          <a:ln cap="flat" cmpd="sng" w="12000">
            <a:solidFill>
              <a:srgbClr val="007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075" lIns="115075" spcFirstLastPara="1" rIns="115075" wrap="square" tIns="115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4"/>
          <p:cNvSpPr/>
          <p:nvPr/>
        </p:nvSpPr>
        <p:spPr>
          <a:xfrm>
            <a:off x="4046834" y="127063"/>
            <a:ext cx="13119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6"/>
              </a:buClr>
              <a:buSzPts val="1259"/>
              <a:buFont typeface="Consolas"/>
              <a:buNone/>
            </a:pPr>
            <a:r>
              <a:rPr b="1" i="0" lang="en" sz="1259" u="none" cap="none" strike="noStrike">
                <a:solidFill>
                  <a:srgbClr val="004D46"/>
                </a:solidFill>
                <a:latin typeface="Consolas"/>
                <a:ea typeface="Consolas"/>
                <a:cs typeface="Consolas"/>
                <a:sym typeface="Consolas"/>
              </a:rPr>
              <a:t>MAE 4.5a</a:t>
            </a:r>
            <a:endParaRPr b="0" i="0" sz="12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5473894" y="127063"/>
            <a:ext cx="1841400" cy="299100"/>
          </a:xfrm>
          <a:prstGeom prst="rect">
            <a:avLst/>
          </a:prstGeom>
          <a:solidFill>
            <a:srgbClr val="D4EED4"/>
          </a:solidFill>
          <a:ln cap="flat" cmpd="sng" w="12000">
            <a:solidFill>
              <a:srgbClr val="1D73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075" lIns="115075" spcFirstLastPara="1" rIns="115075" wrap="square" tIns="115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4"/>
          <p:cNvSpPr/>
          <p:nvPr/>
        </p:nvSpPr>
        <p:spPr>
          <a:xfrm>
            <a:off x="5473894" y="127063"/>
            <a:ext cx="18414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7324"/>
              </a:buClr>
              <a:buSzPts val="1259"/>
              <a:buFont typeface="Consolas"/>
              <a:buNone/>
            </a:pPr>
            <a:r>
              <a:rPr b="1" i="0" lang="en" sz="1259" u="none" cap="none" strike="noStrike">
                <a:solidFill>
                  <a:srgbClr val="1D7324"/>
                </a:solidFill>
                <a:latin typeface="Consolas"/>
                <a:ea typeface="Consolas"/>
                <a:cs typeface="Consolas"/>
                <a:sym typeface="Consolas"/>
              </a:rPr>
              <a:t>Recall 96.8%</a:t>
            </a:r>
            <a:endParaRPr b="0" i="0" sz="12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7430347" y="127063"/>
            <a:ext cx="1576500" cy="299100"/>
          </a:xfrm>
          <a:prstGeom prst="rect">
            <a:avLst/>
          </a:prstGeom>
          <a:solidFill>
            <a:srgbClr val="F6F7F9"/>
          </a:solidFill>
          <a:ln cap="flat" cmpd="sng" w="12000">
            <a:solidFill>
              <a:srgbClr val="C5CB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075" lIns="115075" spcFirstLastPara="1" rIns="115075" wrap="square" tIns="115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4"/>
          <p:cNvSpPr/>
          <p:nvPr/>
        </p:nvSpPr>
        <p:spPr>
          <a:xfrm>
            <a:off x="7430347" y="127063"/>
            <a:ext cx="1576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259"/>
              <a:buFont typeface="Consolas"/>
              <a:buNone/>
            </a:pPr>
            <a:r>
              <a:rPr b="1" i="0" lang="en" sz="1259" u="none" cap="none" strike="noStrike">
                <a:solidFill>
                  <a:srgbClr val="5F6B7C"/>
                </a:solidFill>
                <a:latin typeface="Consolas"/>
                <a:ea typeface="Consolas"/>
                <a:cs typeface="Consolas"/>
                <a:sym typeface="Consolas"/>
              </a:rPr>
              <a:t>Umbral 22a</a:t>
            </a:r>
            <a:endParaRPr b="0" i="0" sz="12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3" name="Google Shape;423;p24"/>
          <p:cNvPicPr preferRelativeResize="0"/>
          <p:nvPr/>
        </p:nvPicPr>
        <p:blipFill rotWithShape="1">
          <a:blip r:embed="rId3">
            <a:alphaModFix/>
          </a:blip>
          <a:srcRect b="0" l="0" r="0" t="54802"/>
          <a:stretch/>
        </p:blipFill>
        <p:spPr>
          <a:xfrm>
            <a:off x="0" y="665700"/>
            <a:ext cx="9144000" cy="4250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5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5"/>
          <p:cNvSpPr/>
          <p:nvPr/>
        </p:nvSpPr>
        <p:spPr>
          <a:xfrm>
            <a:off x="0" y="502920"/>
            <a:ext cx="9144000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5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5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5"/>
          <p:cNvSpPr/>
          <p:nvPr/>
        </p:nvSpPr>
        <p:spPr>
          <a:xfrm>
            <a:off x="411480" y="73152"/>
            <a:ext cx="6400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2000"/>
              <a:buFont typeface="Quattrocento Sans"/>
              <a:buNone/>
            </a:pPr>
            <a:r>
              <a:rPr b="1" i="0" lang="en" sz="20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Comparativa de Modelos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5"/>
          <p:cNvSpPr/>
          <p:nvPr/>
        </p:nvSpPr>
        <p:spPr>
          <a:xfrm>
            <a:off x="5436924" y="132603"/>
            <a:ext cx="1671300" cy="292500"/>
          </a:xfrm>
          <a:prstGeom prst="rect">
            <a:avLst/>
          </a:prstGeom>
          <a:solidFill>
            <a:srgbClr val="FDEFC3"/>
          </a:solidFill>
          <a:ln cap="flat" cmpd="sng" w="9525">
            <a:solidFill>
              <a:srgbClr val="7745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5"/>
          <p:cNvSpPr/>
          <p:nvPr/>
        </p:nvSpPr>
        <p:spPr>
          <a:xfrm>
            <a:off x="5401950" y="130350"/>
            <a:ext cx="171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450D"/>
              </a:buClr>
              <a:buSzPts val="1231"/>
              <a:buFont typeface="Consolas"/>
              <a:buNone/>
            </a:pPr>
            <a:r>
              <a:rPr b="1" i="0" lang="en" sz="1231" u="none" cap="none" strike="noStrike">
                <a:solidFill>
                  <a:srgbClr val="77450D"/>
                </a:solidFill>
                <a:latin typeface="Consolas"/>
                <a:ea typeface="Consolas"/>
                <a:cs typeface="Consolas"/>
                <a:sym typeface="Consolas"/>
              </a:rPr>
              <a:t>v1 MAE=5.0a</a:t>
            </a:r>
            <a:endParaRPr b="0" i="0" sz="12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5"/>
          <p:cNvSpPr/>
          <p:nvPr/>
        </p:nvSpPr>
        <p:spPr>
          <a:xfrm>
            <a:off x="7207332" y="132601"/>
            <a:ext cx="1779600" cy="292500"/>
          </a:xfrm>
          <a:prstGeom prst="rect">
            <a:avLst/>
          </a:prstGeom>
          <a:solidFill>
            <a:srgbClr val="D2ECE9"/>
          </a:solidFill>
          <a:ln cap="flat" cmpd="sng" w="9525">
            <a:solidFill>
              <a:srgbClr val="007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5"/>
          <p:cNvSpPr/>
          <p:nvPr/>
        </p:nvSpPr>
        <p:spPr>
          <a:xfrm>
            <a:off x="7227323" y="130350"/>
            <a:ext cx="171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4D46"/>
              </a:buClr>
              <a:buSzPts val="1231"/>
              <a:buFont typeface="Consolas"/>
              <a:buNone/>
            </a:pPr>
            <a:r>
              <a:rPr b="1" i="0" lang="en" sz="1231" u="none" cap="none" strike="noStrike">
                <a:solidFill>
                  <a:srgbClr val="004D46"/>
                </a:solidFill>
                <a:latin typeface="Consolas"/>
                <a:ea typeface="Consolas"/>
                <a:cs typeface="Consolas"/>
                <a:sym typeface="Consolas"/>
              </a:rPr>
              <a:t>v2 MAE=4.5a</a:t>
            </a:r>
            <a:endParaRPr b="0" i="0" sz="12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8" name="Google Shape;438;p25"/>
          <p:cNvPicPr preferRelativeResize="0"/>
          <p:nvPr/>
        </p:nvPicPr>
        <p:blipFill rotWithShape="1">
          <a:blip r:embed="rId3">
            <a:alphaModFix/>
          </a:blip>
          <a:srcRect b="0" l="0" r="0" t="7261"/>
          <a:stretch/>
        </p:blipFill>
        <p:spPr>
          <a:xfrm>
            <a:off x="0" y="688775"/>
            <a:ext cx="9144000" cy="4283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6"/>
          <p:cNvSpPr/>
          <p:nvPr/>
        </p:nvSpPr>
        <p:spPr>
          <a:xfrm>
            <a:off x="0" y="594360"/>
            <a:ext cx="9144000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6"/>
          <p:cNvSpPr/>
          <p:nvPr/>
        </p:nvSpPr>
        <p:spPr>
          <a:xfrm>
            <a:off x="411480" y="73152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2600"/>
              <a:buFont typeface="Quattrocento Sans"/>
              <a:buNone/>
            </a:pPr>
            <a:r>
              <a:rPr b="1" i="0" lang="en" sz="26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D73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6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D73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6"/>
          <p:cNvSpPr/>
          <p:nvPr/>
        </p:nvSpPr>
        <p:spPr>
          <a:xfrm>
            <a:off x="365760" y="749808"/>
            <a:ext cx="8412480" cy="8869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6"/>
          <p:cNvSpPr/>
          <p:nvPr/>
        </p:nvSpPr>
        <p:spPr>
          <a:xfrm>
            <a:off x="365760" y="749808"/>
            <a:ext cx="50292" cy="886968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6"/>
          <p:cNvSpPr/>
          <p:nvPr/>
        </p:nvSpPr>
        <p:spPr>
          <a:xfrm>
            <a:off x="475488" y="1001268"/>
            <a:ext cx="384048" cy="384048"/>
          </a:xfrm>
          <a:prstGeom prst="rect">
            <a:avLst/>
          </a:prstGeom>
          <a:solidFill>
            <a:srgbClr val="D2ECE9"/>
          </a:solidFill>
          <a:ln cap="flat" cmpd="sng" w="9525">
            <a:solidFill>
              <a:srgbClr val="0078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6"/>
          <p:cNvSpPr/>
          <p:nvPr/>
        </p:nvSpPr>
        <p:spPr>
          <a:xfrm>
            <a:off x="475488" y="10012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86E"/>
              </a:buClr>
              <a:buSzPts val="1800"/>
              <a:buFont typeface="Quattrocento Sans"/>
              <a:buNone/>
            </a:pPr>
            <a:r>
              <a:rPr b="0" i="0" lang="en" sz="1800" u="none" cap="none" strike="noStrike">
                <a:solidFill>
                  <a:srgbClr val="00786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6"/>
          <p:cNvSpPr/>
          <p:nvPr/>
        </p:nvSpPr>
        <p:spPr>
          <a:xfrm>
            <a:off x="1024128" y="747119"/>
            <a:ext cx="7662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700"/>
              <a:buFont typeface="Quattrocento Sans"/>
              <a:buNone/>
            </a:pPr>
            <a:r>
              <a:rPr b="1" i="0" lang="en" sz="17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Sistema totalmente desacoplado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6"/>
          <p:cNvSpPr/>
          <p:nvPr/>
        </p:nvSpPr>
        <p:spPr>
          <a:xfrm>
            <a:off x="1024128" y="1038382"/>
            <a:ext cx="7662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350"/>
              <a:buFont typeface="Quattrocento Sans"/>
              <a:buNone/>
            </a:pPr>
            <a:r>
              <a:rPr b="0" i="0" lang="en" sz="165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Cada microservicio evoluciona, escala y despliega de forma completamente independiente sin afectar al resto.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6"/>
          <p:cNvSpPr/>
          <p:nvPr/>
        </p:nvSpPr>
        <p:spPr>
          <a:xfrm>
            <a:off x="365760" y="1792224"/>
            <a:ext cx="8412480" cy="8869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6"/>
          <p:cNvSpPr/>
          <p:nvPr/>
        </p:nvSpPr>
        <p:spPr>
          <a:xfrm>
            <a:off x="365760" y="1792224"/>
            <a:ext cx="50292" cy="886968"/>
          </a:xfrm>
          <a:prstGeom prst="rect">
            <a:avLst/>
          </a:prstGeom>
          <a:solidFill>
            <a:srgbClr val="1D73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6"/>
          <p:cNvSpPr/>
          <p:nvPr/>
        </p:nvSpPr>
        <p:spPr>
          <a:xfrm>
            <a:off x="475488" y="2043684"/>
            <a:ext cx="384048" cy="384048"/>
          </a:xfrm>
          <a:prstGeom prst="rect">
            <a:avLst/>
          </a:prstGeom>
          <a:solidFill>
            <a:srgbClr val="D4EED4"/>
          </a:solidFill>
          <a:ln cap="flat" cmpd="sng" w="9525">
            <a:solidFill>
              <a:srgbClr val="1D73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6"/>
          <p:cNvSpPr/>
          <p:nvPr/>
        </p:nvSpPr>
        <p:spPr>
          <a:xfrm>
            <a:off x="475488" y="20436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7324"/>
              </a:buClr>
              <a:buSzPts val="1800"/>
              <a:buFont typeface="Quattrocento Sans"/>
              <a:buNone/>
            </a:pPr>
            <a:r>
              <a:rPr b="0" i="0" lang="en" sz="1800" u="none" cap="none" strike="noStrike">
                <a:solidFill>
                  <a:srgbClr val="1D732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6"/>
          <p:cNvSpPr/>
          <p:nvPr/>
        </p:nvSpPr>
        <p:spPr>
          <a:xfrm>
            <a:off x="1024128" y="1789535"/>
            <a:ext cx="7662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700"/>
              <a:buFont typeface="Quattrocento Sans"/>
              <a:buNone/>
            </a:pPr>
            <a:r>
              <a:rPr b="1" i="0" lang="en" sz="17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Alta resiliencia y tolerancia a fallos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6"/>
          <p:cNvSpPr/>
          <p:nvPr/>
        </p:nvSpPr>
        <p:spPr>
          <a:xfrm>
            <a:off x="1024128" y="2080798"/>
            <a:ext cx="7662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350"/>
              <a:buFont typeface="Quattrocento Sans"/>
              <a:buNone/>
            </a:pPr>
            <a:r>
              <a:rPr b="0" i="0" lang="en" sz="165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Los fallos quedan aislados por servicio. Kafka mantiene los mensajes y permite reintentos y dead-letter queues.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6"/>
          <p:cNvSpPr/>
          <p:nvPr/>
        </p:nvSpPr>
        <p:spPr>
          <a:xfrm>
            <a:off x="365760" y="2834640"/>
            <a:ext cx="8412480" cy="8869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6"/>
          <p:cNvSpPr/>
          <p:nvPr/>
        </p:nvSpPr>
        <p:spPr>
          <a:xfrm>
            <a:off x="365760" y="2834640"/>
            <a:ext cx="50292" cy="886968"/>
          </a:xfrm>
          <a:prstGeom prst="rect">
            <a:avLst/>
          </a:prstGeom>
          <a:solidFill>
            <a:srgbClr val="7745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6"/>
          <p:cNvSpPr/>
          <p:nvPr/>
        </p:nvSpPr>
        <p:spPr>
          <a:xfrm>
            <a:off x="475488" y="3086100"/>
            <a:ext cx="384048" cy="384048"/>
          </a:xfrm>
          <a:prstGeom prst="rect">
            <a:avLst/>
          </a:prstGeom>
          <a:solidFill>
            <a:srgbClr val="FDEFC3"/>
          </a:solidFill>
          <a:ln cap="flat" cmpd="sng" w="9525">
            <a:solidFill>
              <a:srgbClr val="7745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6"/>
          <p:cNvSpPr/>
          <p:nvPr/>
        </p:nvSpPr>
        <p:spPr>
          <a:xfrm>
            <a:off x="475488" y="30861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450D"/>
              </a:buClr>
              <a:buSzPts val="1800"/>
              <a:buFont typeface="Quattrocento Sans"/>
              <a:buNone/>
            </a:pPr>
            <a:r>
              <a:rPr b="0" i="0" lang="en" sz="1800" u="none" cap="none" strike="noStrike">
                <a:solidFill>
                  <a:srgbClr val="77450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6"/>
          <p:cNvSpPr/>
          <p:nvPr/>
        </p:nvSpPr>
        <p:spPr>
          <a:xfrm>
            <a:off x="1024128" y="2831951"/>
            <a:ext cx="7662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700"/>
              <a:buFont typeface="Quattrocento Sans"/>
              <a:buNone/>
            </a:pPr>
            <a:r>
              <a:rPr b="1" i="0" lang="en" sz="17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Trazabilidad completa del pipeline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6"/>
          <p:cNvSpPr/>
          <p:nvPr/>
        </p:nvSpPr>
        <p:spPr>
          <a:xfrm>
            <a:off x="1024128" y="3123214"/>
            <a:ext cx="7662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350"/>
              <a:buFont typeface="Quattrocento Sans"/>
              <a:buNone/>
            </a:pPr>
            <a:r>
              <a:rPr b="0" i="0" lang="en" sz="165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Timestamps en cada fase. El GUID permite reconstruir el historial completo de procesamiento de cualquier imagen.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6"/>
          <p:cNvSpPr/>
          <p:nvPr/>
        </p:nvSpPr>
        <p:spPr>
          <a:xfrm>
            <a:off x="365760" y="3877056"/>
            <a:ext cx="8412480" cy="8869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6"/>
          <p:cNvSpPr/>
          <p:nvPr/>
        </p:nvSpPr>
        <p:spPr>
          <a:xfrm>
            <a:off x="365760" y="3877056"/>
            <a:ext cx="50292" cy="886968"/>
          </a:xfrm>
          <a:prstGeom prst="rect">
            <a:avLst/>
          </a:prstGeom>
          <a:solidFill>
            <a:srgbClr val="296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6"/>
          <p:cNvSpPr/>
          <p:nvPr/>
        </p:nvSpPr>
        <p:spPr>
          <a:xfrm>
            <a:off x="475488" y="4128516"/>
            <a:ext cx="384048" cy="384048"/>
          </a:xfrm>
          <a:prstGeom prst="rect">
            <a:avLst/>
          </a:prstGeom>
          <a:solidFill>
            <a:srgbClr val="D7E5FC"/>
          </a:solidFill>
          <a:ln cap="flat" cmpd="sng" w="9525">
            <a:solidFill>
              <a:srgbClr val="296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6"/>
          <p:cNvSpPr/>
          <p:nvPr/>
        </p:nvSpPr>
        <p:spPr>
          <a:xfrm>
            <a:off x="475488" y="41285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65CC"/>
              </a:buClr>
              <a:buSzPts val="1800"/>
              <a:buFont typeface="Quattrocento Sans"/>
              <a:buNone/>
            </a:pPr>
            <a:r>
              <a:rPr b="0" i="0" lang="en" sz="1800" u="none" cap="none" strike="noStrike">
                <a:solidFill>
                  <a:srgbClr val="2965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1024128" y="3874367"/>
            <a:ext cx="7662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700"/>
              <a:buFont typeface="Quattrocento Sans"/>
              <a:buNone/>
            </a:pPr>
            <a:r>
              <a:rPr b="1" i="0" lang="en" sz="17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Escalabilidad horizontal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1024128" y="4165630"/>
            <a:ext cx="7662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350"/>
              <a:buFont typeface="Quattrocento Sans"/>
              <a:buNone/>
            </a:pPr>
            <a:r>
              <a:rPr b="0" i="0" lang="en" sz="165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Kafka permite múltiples instancias consumidoras en paralelo. Cada servicio escala de forma independiente según su carga.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7"/>
          <p:cNvSpPr/>
          <p:nvPr/>
        </p:nvSpPr>
        <p:spPr>
          <a:xfrm>
            <a:off x="0" y="594360"/>
            <a:ext cx="9144000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7"/>
          <p:cNvSpPr/>
          <p:nvPr/>
        </p:nvSpPr>
        <p:spPr>
          <a:xfrm>
            <a:off x="411480" y="73152"/>
            <a:ext cx="83210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2600"/>
              <a:buFont typeface="Quattrocento Sans"/>
              <a:buNone/>
            </a:pPr>
            <a:r>
              <a:rPr b="1" i="0" lang="en" sz="26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Propuestas de Mejora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7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7745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7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7745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7"/>
          <p:cNvSpPr/>
          <p:nvPr/>
        </p:nvSpPr>
        <p:spPr>
          <a:xfrm>
            <a:off x="365760" y="749808"/>
            <a:ext cx="4023360" cy="1335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7"/>
          <p:cNvSpPr/>
          <p:nvPr/>
        </p:nvSpPr>
        <p:spPr>
          <a:xfrm>
            <a:off x="365760" y="749808"/>
            <a:ext cx="50292" cy="1335024"/>
          </a:xfrm>
          <a:prstGeom prst="rect">
            <a:avLst/>
          </a:prstGeom>
          <a:solidFill>
            <a:srgbClr val="7745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7"/>
          <p:cNvSpPr/>
          <p:nvPr/>
        </p:nvSpPr>
        <p:spPr>
          <a:xfrm>
            <a:off x="457200" y="804672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450D"/>
              </a:buClr>
              <a:buSzPts val="1800"/>
              <a:buFont typeface="Consolas"/>
              <a:buNone/>
            </a:pPr>
            <a:r>
              <a:rPr b="1" i="0" lang="en" sz="1800" u="none" cap="none" strike="noStrike">
                <a:solidFill>
                  <a:srgbClr val="77450D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7"/>
          <p:cNvSpPr/>
          <p:nvPr/>
        </p:nvSpPr>
        <p:spPr>
          <a:xfrm>
            <a:off x="1033272" y="822960"/>
            <a:ext cx="32644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600"/>
              <a:buFont typeface="Quattrocento Sans"/>
              <a:buNone/>
            </a:pPr>
            <a:r>
              <a:rPr b="1" i="0" lang="en" sz="16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Modelos más precisos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7"/>
          <p:cNvSpPr/>
          <p:nvPr/>
        </p:nvSpPr>
        <p:spPr>
          <a:xfrm>
            <a:off x="1033272" y="1188720"/>
            <a:ext cx="3264408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7"/>
          <p:cNvSpPr/>
          <p:nvPr/>
        </p:nvSpPr>
        <p:spPr>
          <a:xfrm>
            <a:off x="1033272" y="1243584"/>
            <a:ext cx="3264408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300"/>
              <a:buFont typeface="Quattrocento Sans"/>
              <a:buNone/>
            </a:pPr>
            <a:r>
              <a:rPr b="0" i="0" lang="en" sz="130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Integrar modelos transformer para estimación de edad con mayor precisión y menor sesgo.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4663440" y="749808"/>
            <a:ext cx="4023360" cy="1335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7"/>
          <p:cNvSpPr/>
          <p:nvPr/>
        </p:nvSpPr>
        <p:spPr>
          <a:xfrm>
            <a:off x="4663440" y="749808"/>
            <a:ext cx="50292" cy="1335024"/>
          </a:xfrm>
          <a:prstGeom prst="rect">
            <a:avLst/>
          </a:prstGeom>
          <a:solidFill>
            <a:srgbClr val="7745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7"/>
          <p:cNvSpPr/>
          <p:nvPr/>
        </p:nvSpPr>
        <p:spPr>
          <a:xfrm>
            <a:off x="4754880" y="804672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450D"/>
              </a:buClr>
              <a:buSzPts val="1800"/>
              <a:buFont typeface="Consolas"/>
              <a:buNone/>
            </a:pPr>
            <a:r>
              <a:rPr b="1" i="0" lang="en" sz="1800" u="none" cap="none" strike="noStrike">
                <a:solidFill>
                  <a:srgbClr val="77450D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7"/>
          <p:cNvSpPr/>
          <p:nvPr/>
        </p:nvSpPr>
        <p:spPr>
          <a:xfrm>
            <a:off x="5330952" y="822960"/>
            <a:ext cx="32644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600"/>
              <a:buFont typeface="Quattrocento Sans"/>
              <a:buNone/>
            </a:pPr>
            <a:r>
              <a:rPr b="1" i="0" lang="en" sz="16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Panel de monitorización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7"/>
          <p:cNvSpPr/>
          <p:nvPr/>
        </p:nvSpPr>
        <p:spPr>
          <a:xfrm>
            <a:off x="5330952" y="1188720"/>
            <a:ext cx="3264408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7"/>
          <p:cNvSpPr/>
          <p:nvPr/>
        </p:nvSpPr>
        <p:spPr>
          <a:xfrm>
            <a:off x="5330952" y="1243584"/>
            <a:ext cx="3264408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300"/>
              <a:buFont typeface="Quattrocento Sans"/>
              <a:buNone/>
            </a:pPr>
            <a:r>
              <a:rPr b="0" i="0" lang="en" sz="130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Dashboard en tiempo real con Kafka UI + Grafana para observar el estado del pipeline.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7"/>
          <p:cNvSpPr/>
          <p:nvPr/>
        </p:nvSpPr>
        <p:spPr>
          <a:xfrm>
            <a:off x="365760" y="2212848"/>
            <a:ext cx="4023360" cy="1335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7"/>
          <p:cNvSpPr/>
          <p:nvPr/>
        </p:nvSpPr>
        <p:spPr>
          <a:xfrm>
            <a:off x="365760" y="2212848"/>
            <a:ext cx="50292" cy="1335024"/>
          </a:xfrm>
          <a:prstGeom prst="rect">
            <a:avLst/>
          </a:prstGeom>
          <a:solidFill>
            <a:srgbClr val="7745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7"/>
          <p:cNvSpPr/>
          <p:nvPr/>
        </p:nvSpPr>
        <p:spPr>
          <a:xfrm>
            <a:off x="457200" y="2267712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450D"/>
              </a:buClr>
              <a:buSzPts val="1800"/>
              <a:buFont typeface="Consolas"/>
              <a:buNone/>
            </a:pPr>
            <a:r>
              <a:rPr b="1" i="0" lang="en" sz="1800" u="none" cap="none" strike="noStrike">
                <a:solidFill>
                  <a:srgbClr val="77450D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1033272" y="2286000"/>
            <a:ext cx="32644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600"/>
              <a:buFont typeface="Quattrocento Sans"/>
              <a:buNone/>
            </a:pPr>
            <a:r>
              <a:rPr b="1" i="0" lang="en" sz="16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Soporte para vídeo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1033272" y="2651760"/>
            <a:ext cx="3264408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7"/>
          <p:cNvSpPr/>
          <p:nvPr/>
        </p:nvSpPr>
        <p:spPr>
          <a:xfrm>
            <a:off x="1033272" y="2706624"/>
            <a:ext cx="3264408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300"/>
              <a:buFont typeface="Quattrocento Sans"/>
              <a:buNone/>
            </a:pPr>
            <a:r>
              <a:rPr b="0" i="0" lang="en" sz="130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Procesar vídeo frame a frame, no solo imágenes, con gestión de offsets temporales.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7"/>
          <p:cNvSpPr/>
          <p:nvPr/>
        </p:nvSpPr>
        <p:spPr>
          <a:xfrm>
            <a:off x="4663440" y="2212848"/>
            <a:ext cx="4023300" cy="133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7"/>
          <p:cNvSpPr/>
          <p:nvPr/>
        </p:nvSpPr>
        <p:spPr>
          <a:xfrm>
            <a:off x="4663440" y="2212848"/>
            <a:ext cx="50292" cy="1335024"/>
          </a:xfrm>
          <a:prstGeom prst="rect">
            <a:avLst/>
          </a:prstGeom>
          <a:solidFill>
            <a:srgbClr val="7745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7"/>
          <p:cNvSpPr/>
          <p:nvPr/>
        </p:nvSpPr>
        <p:spPr>
          <a:xfrm>
            <a:off x="4754880" y="2267712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450D"/>
              </a:buClr>
              <a:buSzPts val="1800"/>
              <a:buFont typeface="Consolas"/>
              <a:buNone/>
            </a:pPr>
            <a:r>
              <a:rPr b="1" i="0" lang="en" sz="1800" u="none" cap="none" strike="noStrike">
                <a:solidFill>
                  <a:srgbClr val="77450D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7"/>
          <p:cNvSpPr/>
          <p:nvPr/>
        </p:nvSpPr>
        <p:spPr>
          <a:xfrm>
            <a:off x="5330952" y="2286000"/>
            <a:ext cx="32644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600"/>
              <a:buFont typeface="Quattrocento Sans"/>
              <a:buNone/>
            </a:pPr>
            <a:r>
              <a:rPr b="1" i="0" lang="en" sz="16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Autenticación y auditoría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7"/>
          <p:cNvSpPr/>
          <p:nvPr/>
        </p:nvSpPr>
        <p:spPr>
          <a:xfrm>
            <a:off x="5330952" y="2651760"/>
            <a:ext cx="3264408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7"/>
          <p:cNvSpPr/>
          <p:nvPr/>
        </p:nvSpPr>
        <p:spPr>
          <a:xfrm>
            <a:off x="5330952" y="2706624"/>
            <a:ext cx="3264408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300"/>
              <a:buFont typeface="Quattrocento Sans"/>
              <a:buNone/>
            </a:pPr>
            <a:r>
              <a:rPr b="0" i="0" lang="en" sz="130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Control de acceso RBAC con logs de auditoría completos por usuario y solicitud.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7"/>
          <p:cNvSpPr/>
          <p:nvPr/>
        </p:nvSpPr>
        <p:spPr>
          <a:xfrm>
            <a:off x="365760" y="3675888"/>
            <a:ext cx="4023360" cy="1335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7"/>
          <p:cNvSpPr/>
          <p:nvPr/>
        </p:nvSpPr>
        <p:spPr>
          <a:xfrm>
            <a:off x="365760" y="3675888"/>
            <a:ext cx="50292" cy="1335024"/>
          </a:xfrm>
          <a:prstGeom prst="rect">
            <a:avLst/>
          </a:prstGeom>
          <a:solidFill>
            <a:srgbClr val="7745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7"/>
          <p:cNvSpPr/>
          <p:nvPr/>
        </p:nvSpPr>
        <p:spPr>
          <a:xfrm>
            <a:off x="457200" y="3730752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450D"/>
              </a:buClr>
              <a:buSzPts val="1800"/>
              <a:buFont typeface="Consolas"/>
              <a:buNone/>
            </a:pPr>
            <a:r>
              <a:rPr b="1" i="0" lang="en" sz="1800" u="none" cap="none" strike="noStrike">
                <a:solidFill>
                  <a:srgbClr val="77450D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7"/>
          <p:cNvSpPr/>
          <p:nvPr/>
        </p:nvSpPr>
        <p:spPr>
          <a:xfrm>
            <a:off x="1033272" y="3749040"/>
            <a:ext cx="32644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600"/>
              <a:buFont typeface="Quattrocento Sans"/>
              <a:buNone/>
            </a:pPr>
            <a:r>
              <a:rPr b="1" i="0" lang="en" sz="16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API de notificaciones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7"/>
          <p:cNvSpPr/>
          <p:nvPr/>
        </p:nvSpPr>
        <p:spPr>
          <a:xfrm>
            <a:off x="1033272" y="4114800"/>
            <a:ext cx="3264408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7"/>
          <p:cNvSpPr/>
          <p:nvPr/>
        </p:nvSpPr>
        <p:spPr>
          <a:xfrm>
            <a:off x="1033272" y="4169664"/>
            <a:ext cx="3264408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300"/>
              <a:buFont typeface="Quattrocento Sans"/>
              <a:buNone/>
            </a:pPr>
            <a:r>
              <a:rPr b="0" i="0" lang="en" sz="130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Webhooks para notificar al cliente cuando el procesamiento de su imagen finalice.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7"/>
          <p:cNvSpPr/>
          <p:nvPr/>
        </p:nvSpPr>
        <p:spPr>
          <a:xfrm>
            <a:off x="4663440" y="3675888"/>
            <a:ext cx="4023360" cy="13350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3D8D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7"/>
          <p:cNvSpPr/>
          <p:nvPr/>
        </p:nvSpPr>
        <p:spPr>
          <a:xfrm>
            <a:off x="4663440" y="3675888"/>
            <a:ext cx="50292" cy="1335024"/>
          </a:xfrm>
          <a:prstGeom prst="rect">
            <a:avLst/>
          </a:prstGeom>
          <a:solidFill>
            <a:srgbClr val="7745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7"/>
          <p:cNvSpPr/>
          <p:nvPr/>
        </p:nvSpPr>
        <p:spPr>
          <a:xfrm>
            <a:off x="4754880" y="3730752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7450D"/>
              </a:buClr>
              <a:buSzPts val="1800"/>
              <a:buFont typeface="Consolas"/>
              <a:buNone/>
            </a:pPr>
            <a:r>
              <a:rPr b="1" i="0" lang="en" sz="1800" u="none" cap="none" strike="noStrike">
                <a:solidFill>
                  <a:srgbClr val="77450D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7"/>
          <p:cNvSpPr/>
          <p:nvPr/>
        </p:nvSpPr>
        <p:spPr>
          <a:xfrm>
            <a:off x="5330952" y="3749040"/>
            <a:ext cx="326440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127"/>
              </a:buClr>
              <a:buSzPts val="1600"/>
              <a:buFont typeface="Quattrocento Sans"/>
              <a:buNone/>
            </a:pPr>
            <a:r>
              <a:rPr b="1" i="0" lang="en" sz="1600" u="none" cap="none" strike="noStrike">
                <a:solidFill>
                  <a:srgbClr val="1C212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Despliegue en Kubernetes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7"/>
          <p:cNvSpPr/>
          <p:nvPr/>
        </p:nvSpPr>
        <p:spPr>
          <a:xfrm>
            <a:off x="5330952" y="4114800"/>
            <a:ext cx="3264408" cy="10973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7"/>
          <p:cNvSpPr/>
          <p:nvPr/>
        </p:nvSpPr>
        <p:spPr>
          <a:xfrm>
            <a:off x="5330952" y="4169664"/>
            <a:ext cx="3264408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B7C"/>
              </a:buClr>
              <a:buSzPts val="1300"/>
              <a:buFont typeface="Quattrocento Sans"/>
              <a:buNone/>
            </a:pPr>
            <a:r>
              <a:rPr b="0" i="0" lang="en" sz="1300" u="none" cap="none" strike="noStrike">
                <a:solidFill>
                  <a:srgbClr val="5F6B7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Orquestación con K8s para auto-scaling de cada microservicio según la carga.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7"/>
          <p:cNvSpPr txBox="1"/>
          <p:nvPr/>
        </p:nvSpPr>
        <p:spPr>
          <a:xfrm>
            <a:off x="400721" y="1178228"/>
            <a:ext cx="50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/>
          </a:p>
        </p:txBody>
      </p:sp>
      <p:sp>
        <p:nvSpPr>
          <p:cNvPr id="520" name="Google Shape;520;p27"/>
          <p:cNvSpPr txBox="1"/>
          <p:nvPr/>
        </p:nvSpPr>
        <p:spPr>
          <a:xfrm>
            <a:off x="4700283" y="1205653"/>
            <a:ext cx="50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/>
          </a:p>
        </p:txBody>
      </p:sp>
      <p:sp>
        <p:nvSpPr>
          <p:cNvPr id="521" name="Google Shape;521;p27"/>
          <p:cNvSpPr txBox="1"/>
          <p:nvPr/>
        </p:nvSpPr>
        <p:spPr>
          <a:xfrm>
            <a:off x="400721" y="2649524"/>
            <a:ext cx="50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🎬</a:t>
            </a:r>
            <a:endParaRPr/>
          </a:p>
        </p:txBody>
      </p:sp>
      <p:sp>
        <p:nvSpPr>
          <p:cNvPr id="522" name="Google Shape;522;p27"/>
          <p:cNvSpPr txBox="1"/>
          <p:nvPr/>
        </p:nvSpPr>
        <p:spPr>
          <a:xfrm>
            <a:off x="4728042" y="2649504"/>
            <a:ext cx="50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/>
          </a:p>
        </p:txBody>
      </p:sp>
      <p:sp>
        <p:nvSpPr>
          <p:cNvPr id="523" name="Google Shape;523;p27"/>
          <p:cNvSpPr txBox="1"/>
          <p:nvPr/>
        </p:nvSpPr>
        <p:spPr>
          <a:xfrm>
            <a:off x="400721" y="4107361"/>
            <a:ext cx="50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📡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